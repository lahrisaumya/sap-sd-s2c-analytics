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1" r:id="rId8"/>
    <p:sldId id="262" r:id="rId9"/>
    <p:sldId id="264" r:id="rId10"/>
    <p:sldId id="265" r:id="rId11"/>
    <p:sldId id="263" r:id="rId12"/>
  </p:sldIdLst>
  <p:sldSz cx="12195175" cy="6859270"/>
  <p:notesSz cx="6797675" cy="98742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285" userDrawn="1">
          <p15:clr>
            <a:srgbClr val="A4A3A4"/>
          </p15:clr>
        </p15:guide>
        <p15:guide id="2" orient="horz" pos="779" userDrawn="1">
          <p15:clr>
            <a:srgbClr val="A4A3A4"/>
          </p15:clr>
        </p15:guide>
        <p15:guide id="3" pos="7478" userDrawn="1">
          <p15:clr>
            <a:srgbClr val="A4A3A4"/>
          </p15:clr>
        </p15:guide>
        <p15:guide id="4" pos="205" userDrawn="1">
          <p15:clr>
            <a:srgbClr val="A4A3A4"/>
          </p15:clr>
        </p15:guide>
        <p15:guide id="5" pos="3849" userDrawn="1">
          <p15:clr>
            <a:srgbClr val="A4A3A4"/>
          </p15:clr>
        </p15:guide>
        <p15:guide id="6" pos="4708" userDrawn="1">
          <p15:clr>
            <a:srgbClr val="A4A3A4"/>
          </p15:clr>
        </p15:guide>
        <p15:guide id="7" pos="4812" userDrawn="1">
          <p15:clr>
            <a:srgbClr val="A4A3A4"/>
          </p15:clr>
        </p15:guide>
        <p15:guide id="8" pos="2865" userDrawn="1">
          <p15:clr>
            <a:srgbClr val="A4A3A4"/>
          </p15:clr>
        </p15:guide>
        <p15:guide id="9" pos="29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8D6F890-A439-49F1-84FE-55D4BC673157}" styleName="Table_0">
    <a:wholeTbl>
      <a:tcTxStyle>
        <a:font>
          <a:latin typeface="Arial"/>
          <a:ea typeface="Arial"/>
          <a:cs typeface="Arial"/>
        </a:font>
        <a:schemeClr val="dk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chemeClr val="accent4"/>
              </a:solidFill>
              <a:prstDash val="solid"/>
              <a:round/>
              <a:headEnd type="none" w="sm" len="sm"/>
              <a:tailEnd type="none" w="sm" len="sm"/>
            </a:ln>
          </a:insideV>
        </a:tcBdr>
        <a:fill>
          <a:solidFill>
            <a:srgbClr val="FFFFFF">
              <a:alpha val="0"/>
            </a:srgbClr>
          </a:solidFill>
        </a:fill>
      </a:tcStyle>
    </a:wholeTbl>
    <a:band1H>
      <a:tcStyle>
        <a:tcBdr/>
        <a:fill>
          <a:solidFill>
            <a:schemeClr val="accent4">
              <a:alpha val="40000"/>
            </a:schemeClr>
          </a:solidFill>
        </a:fill>
      </a:tcStyle>
    </a:band1H>
    <a:band2H>
      <a:tcStyle>
        <a:tcBdr/>
      </a:tcStyle>
    </a:band2H>
    <a:band1V>
      <a:tcStyle>
        <a:tcBdr>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tcBdr>
        <a:fill>
          <a:solidFill>
            <a:schemeClr val="accent4">
              <a:alpha val="40000"/>
            </a:schemeClr>
          </a:solidFill>
        </a:fill>
      </a:tcStyle>
    </a:band1V>
    <a:band2V>
      <a:tcStyle>
        <a:tcBdr/>
      </a:tcStyle>
    </a:band2V>
    <a:lastCol>
      <a:tcTxStyle b="on"/>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Style>
        <a:tcBdr/>
      </a:tcStyle>
    </a:seCell>
    <a:swCell>
      <a:tcStyle>
        <a:tcBdr/>
      </a:tcStyle>
    </a:swCell>
    <a:firstRow>
      <a:tcTxStyle b="on">
        <a:font>
          <a:latin typeface="Arial"/>
          <a:ea typeface="Arial"/>
          <a:cs typeface="Arial"/>
        </a:font>
        <a:schemeClr val="lt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4"/>
          </a:solidFill>
        </a:fill>
      </a:tcStyle>
    </a:firstRow>
    <a:neCell>
      <a:tcStyle>
        <a:tcBdr/>
      </a:tcStyle>
    </a:neCell>
    <a:nwCell>
      <a:tcStyle>
        <a:tcBdr/>
      </a:tcStyle>
    </a:nwCell>
  </a:tblStyle>
  <a:tblStyle styleId="{5B97E2F3-CA36-4D48-8C1F-CC93C5A3E463}" styleName="Table_2">
    <a:wholeTbl>
      <a:tcTxStyle>
        <a:font>
          <a:latin typeface="Arial"/>
          <a:ea typeface="Arial"/>
          <a:cs typeface="Arial"/>
        </a:font>
        <a:schemeClr val="lt1"/>
      </a:tcTxStyle>
      <a:tcStyle>
        <a:tcBdr>
          <a:left>
            <a:ln w="9525" cap="flat" cmpd="sng">
              <a:solidFill>
                <a:srgbClr val="F8DABA"/>
              </a:solidFill>
              <a:prstDash val="solid"/>
              <a:round/>
              <a:headEnd type="none" w="sm" len="sm"/>
              <a:tailEnd type="none" w="sm" len="sm"/>
            </a:ln>
          </a:left>
          <a:right>
            <a:ln w="9525" cap="flat" cmpd="sng">
              <a:solidFill>
                <a:srgbClr val="F8DABA"/>
              </a:solidFill>
              <a:prstDash val="solid"/>
              <a:round/>
              <a:headEnd type="none" w="sm" len="sm"/>
              <a:tailEnd type="none" w="sm" len="sm"/>
            </a:ln>
          </a:right>
          <a:top>
            <a:ln w="9525" cap="flat" cmpd="sng">
              <a:solidFill>
                <a:srgbClr val="F8DABA"/>
              </a:solidFill>
              <a:prstDash val="solid"/>
              <a:round/>
              <a:headEnd type="none" w="sm" len="sm"/>
              <a:tailEnd type="none" w="sm" len="sm"/>
            </a:ln>
          </a:top>
          <a:bottom>
            <a:ln w="9525" cap="flat" cmpd="sng">
              <a:solidFill>
                <a:srgbClr val="F8DABA"/>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fill>
          <a:solidFill>
            <a:schemeClr val="lt1">
              <a:alpha val="20000"/>
            </a:schemeClr>
          </a:solidFill>
        </a:fill>
      </a:tcStyle>
    </a:band1H>
    <a:band2H>
      <a:tcStyle>
        <a:tcBdr/>
      </a:tcStyle>
    </a:band2H>
    <a:band1V>
      <a:tcStyle>
        <a:tcBdr/>
        <a:fill>
          <a:solidFill>
            <a:schemeClr val="lt1">
              <a:alpha val="20000"/>
            </a:schemeClr>
          </a:solidFill>
        </a:fill>
      </a:tcStyle>
    </a:band1V>
    <a:band2V>
      <a:tcStyle>
        <a:tcBdr/>
      </a:tcStyle>
    </a:band2V>
    <a:lastCol>
      <a:tcTxStyle b="on"/>
      <a:tcStyle>
        <a:tcBdr>
          <a:left>
            <a:ln w="9525" cap="flat" cmpd="sng">
              <a:solidFill>
                <a:schemeClr val="lt1"/>
              </a:solidFill>
              <a:prstDash val="solid"/>
              <a:round/>
              <a:headEnd type="none" w="sm" len="sm"/>
              <a:tailEnd type="none" w="sm" len="sm"/>
            </a:ln>
          </a:left>
        </a:tcBdr>
      </a:tcStyle>
    </a:lastCol>
    <a:firstCol>
      <a:tcTxStyle b="on"/>
      <a:tcStyle>
        <a:tcBdr>
          <a:right>
            <a:ln w="9525" cap="flat" cmpd="sng">
              <a:solidFill>
                <a:schemeClr val="lt1"/>
              </a:solidFill>
              <a:prstDash val="solid"/>
              <a:round/>
              <a:headEnd type="none" w="sm" len="sm"/>
              <a:tailEnd type="none" w="sm" len="sm"/>
            </a:ln>
          </a:right>
        </a:tcBdr>
      </a:tcStyle>
    </a:firstCol>
    <a:lastRow>
      <a:tcTxStyle b="on"/>
      <a:tcStyle>
        <a:tcBdr>
          <a:top>
            <a:ln w="9525" cap="flat" cmpd="sng">
              <a:solidFill>
                <a:schemeClr val="lt1"/>
              </a:solidFill>
              <a:prstDash val="solid"/>
              <a:round/>
              <a:headEnd type="none" w="sm" len="sm"/>
              <a:tailEnd type="none" w="sm" len="sm"/>
            </a:ln>
          </a:top>
        </a:tcBdr>
        <a:fill>
          <a:solidFill>
            <a:srgbClr val="FFFFFF">
              <a:alpha val="0"/>
            </a:srgbClr>
          </a:solidFill>
        </a:fill>
      </a:tcStyle>
    </a:lastRow>
    <a:seCell>
      <a:tcStyle>
        <a:tcBdr>
          <a:left>
            <a:ln w="9525" cap="flat" cmpd="sng">
              <a:solidFill>
                <a:srgbClr val="000000">
                  <a:alpha val="0"/>
                </a:srgbClr>
              </a:solidFill>
              <a:prstDash val="solid"/>
              <a:round/>
              <a:headEnd type="none" w="sm" len="sm"/>
              <a:tailEnd type="none" w="sm" len="sm"/>
            </a:ln>
          </a:left>
          <a:top>
            <a:ln w="9525" cap="flat" cmpd="sng">
              <a:solidFill>
                <a:srgbClr val="000000">
                  <a:alpha val="0"/>
                </a:srgbClr>
              </a:solidFill>
              <a:prstDash val="solid"/>
              <a:round/>
              <a:headEnd type="none" w="sm" len="sm"/>
              <a:tailEnd type="none" w="sm" len="sm"/>
            </a:ln>
          </a:top>
        </a:tcBdr>
      </a:tcStyle>
    </a:seCell>
    <a:swCell>
      <a:tcStyle>
        <a:tcBdr>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tcBdr>
      </a:tcStyle>
    </a:swCell>
    <a:firstRow>
      <a:tcTxStyle b="on"/>
      <a:tcStyle>
        <a:tcBdr>
          <a:bottom>
            <a:ln w="9525" cap="flat" cmpd="sng">
              <a:solidFill>
                <a:schemeClr val="lt1"/>
              </a:solidFill>
              <a:prstDash val="solid"/>
              <a:round/>
              <a:headEnd type="none" w="sm" len="sm"/>
              <a:tailEnd type="none" w="sm" len="sm"/>
            </a:ln>
          </a:bottom>
        </a:tcBdr>
        <a:fill>
          <a:solidFill>
            <a:srgbClr val="FFFFFF">
              <a:alpha val="0"/>
            </a:srgbClr>
          </a:solidFill>
        </a:fill>
      </a:tcStyle>
    </a:firstRow>
    <a:neCell>
      <a:tcStyle>
        <a:tcBdr>
          <a:bottom>
            <a:ln w="9525" cap="flat" cmpd="sng">
              <a:solidFill>
                <a:srgbClr val="000000">
                  <a:alpha val="0"/>
                </a:srgbClr>
              </a:solidFill>
              <a:prstDash val="solid"/>
              <a:round/>
              <a:headEnd type="none" w="sm" len="sm"/>
              <a:tailEnd type="none" w="sm" len="sm"/>
            </a:ln>
          </a:bottom>
        </a:tcBdr>
      </a:tcStyle>
    </a:neCell>
    <a:nwCell>
      <a:tcStyle>
        <a:tcBdr/>
      </a:tcStyle>
    </a:nwCell>
  </a:tblStyle>
  <a:tblStyle styleId="{EAD1E364-5ADF-428F-B036-55A4326203F2}" styleName="Table_3">
    <a:wholeTbl>
      <a:tcTxStyle>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0" d="100"/>
          <a:sy n="80" d="100"/>
        </p:scale>
        <p:origin x="754" y="58"/>
      </p:cViewPr>
      <p:guideLst>
        <p:guide orient="horz" pos="1285"/>
        <p:guide orient="horz" pos="779"/>
        <p:guide pos="7478"/>
        <p:guide pos="205"/>
        <p:guide pos="3849"/>
        <p:guide pos="4708"/>
        <p:guide pos="4812"/>
        <p:guide pos="2865"/>
        <p:guide pos="295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10"/>
        <p:guide pos="351"/>
        <p:guide pos="3951"/>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44171" y="4548205"/>
            <a:ext cx="5709333" cy="4696698"/>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04800" algn="l" rtl="0">
              <a:lnSpc>
                <a:spcPct val="100000"/>
              </a:lnSpc>
              <a:spcBef>
                <a:spcPts val="0"/>
              </a:spcBef>
              <a:spcAft>
                <a:spcPts val="0"/>
              </a:spcAft>
              <a:buClr>
                <a:schemeClr val="accent1"/>
              </a:buClr>
              <a:buSzPts val="1200"/>
              <a:buFont typeface="Noto Sans Symbols"/>
              <a:buChar char="•"/>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89560" algn="l" rtl="0">
              <a:lnSpc>
                <a:spcPct val="100000"/>
              </a:lnSpc>
              <a:spcBef>
                <a:spcPts val="0"/>
              </a:spcBef>
              <a:spcAft>
                <a:spcPts val="0"/>
              </a:spcAft>
              <a:buClr>
                <a:schemeClr val="accent2"/>
              </a:buClr>
              <a:buSzPts val="960"/>
              <a:buFont typeface="Noto Sans Symbols"/>
              <a:buChar char="−"/>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04800" algn="l" rtl="0">
              <a:lnSpc>
                <a:spcPct val="100000"/>
              </a:lnSpc>
              <a:spcBef>
                <a:spcPts val="0"/>
              </a:spcBef>
              <a:spcAft>
                <a:spcPts val="0"/>
              </a:spcAft>
              <a:buClr>
                <a:schemeClr val="accent2"/>
              </a:buClr>
              <a:buSzPts val="1200"/>
              <a:buFont typeface="Arial" panose="020B0604020202020204"/>
              <a:buChar char="–"/>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txBox="1">
            <a:spLocks noGrp="1"/>
          </p:cNvSpPr>
          <p:nvPr>
            <p:ph type="sldNum" idx="12"/>
          </p:nvPr>
        </p:nvSpPr>
        <p:spPr>
          <a:xfrm>
            <a:off x="2931497" y="9627396"/>
            <a:ext cx="934681" cy="221758"/>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000"/>
              <a:buFont typeface="Arial" panose="020B0604020202020204"/>
              <a:buNone/>
            </a:pPr>
            <a:fld id="{00000000-1234-1234-1234-123412341234}" type="slidenum">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Google Shape;137;p1:notes"/>
          <p:cNvSpPr txBox="1">
            <a:spLocks noGrp="1"/>
          </p:cNvSpPr>
          <p:nvPr>
            <p:ph type="body" idx="1"/>
          </p:nvPr>
        </p:nvSpPr>
        <p:spPr>
          <a:xfrm>
            <a:off x="544171" y="4548205"/>
            <a:ext cx="5709333" cy="469669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p>
        </p:txBody>
      </p:sp>
      <p:sp>
        <p:nvSpPr>
          <p:cNvPr id="138" name="Google Shape;138;p1: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3"/>
        <p:cNvGrpSpPr/>
        <p:nvPr/>
      </p:nvGrpSpPr>
      <p:grpSpPr>
        <a:xfrm>
          <a:off x="0" y="0"/>
          <a:ext cx="0" cy="0"/>
          <a:chOff x="0" y="0"/>
          <a:chExt cx="0" cy="0"/>
        </a:xfrm>
      </p:grpSpPr>
      <p:sp>
        <p:nvSpPr>
          <p:cNvPr id="144" name="Google Shape;144;p2:notes"/>
          <p:cNvSpPr txBox="1">
            <a:spLocks noGrp="1"/>
          </p:cNvSpPr>
          <p:nvPr>
            <p:ph type="body" idx="1"/>
          </p:nvPr>
        </p:nvSpPr>
        <p:spPr>
          <a:xfrm>
            <a:off x="544171" y="4548205"/>
            <a:ext cx="5709333" cy="4696698"/>
          </a:xfrm>
          <a:prstGeom prst="rect">
            <a:avLst/>
          </a:prstGeom>
        </p:spPr>
        <p:txBody>
          <a:bodyPr spcFirstLastPara="1" wrap="square" lIns="0" tIns="0" rIns="0" bIns="0" anchor="t" anchorCtr="0">
            <a:noAutofit/>
          </a:bodyPr>
          <a:lstStyle/>
          <a:p>
            <a:pPr marL="0" lvl="0" indent="0" algn="l" rtl="0">
              <a:spcBef>
                <a:spcPts val="0"/>
              </a:spcBef>
              <a:spcAft>
                <a:spcPts val="0"/>
              </a:spcAft>
              <a:buNone/>
            </a:pPr>
          </a:p>
        </p:txBody>
      </p:sp>
      <p:sp>
        <p:nvSpPr>
          <p:cNvPr id="145" name="Google Shape;145;p2: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9"/>
        <p:cNvGrpSpPr/>
        <p:nvPr/>
      </p:nvGrpSpPr>
      <p:grpSpPr>
        <a:xfrm>
          <a:off x="0" y="0"/>
          <a:ext cx="0" cy="0"/>
          <a:chOff x="0" y="0"/>
          <a:chExt cx="0" cy="0"/>
        </a:xfrm>
      </p:grpSpPr>
      <p:sp>
        <p:nvSpPr>
          <p:cNvPr id="150" name="Google Shape;150;p3:notes"/>
          <p:cNvSpPr txBox="1">
            <a:spLocks noGrp="1"/>
          </p:cNvSpPr>
          <p:nvPr>
            <p:ph type="body" idx="1"/>
          </p:nvPr>
        </p:nvSpPr>
        <p:spPr>
          <a:xfrm>
            <a:off x="544171" y="4548205"/>
            <a:ext cx="5709333" cy="469669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p>
        </p:txBody>
      </p:sp>
      <p:sp>
        <p:nvSpPr>
          <p:cNvPr id="151" name="Google Shape;151;p3: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544171" y="4548205"/>
            <a:ext cx="5709333" cy="469669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p>
        </p:txBody>
      </p:sp>
      <p:sp>
        <p:nvSpPr>
          <p:cNvPr id="157" name="Google Shape;157;p4: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7"/>
        <p:cNvGrpSpPr/>
        <p:nvPr/>
      </p:nvGrpSpPr>
      <p:grpSpPr>
        <a:xfrm>
          <a:off x="0" y="0"/>
          <a:ext cx="0" cy="0"/>
          <a:chOff x="0" y="0"/>
          <a:chExt cx="0" cy="0"/>
        </a:xfrm>
      </p:grpSpPr>
      <p:sp>
        <p:nvSpPr>
          <p:cNvPr id="208" name="Google Shape;208;p6:notes"/>
          <p:cNvSpPr txBox="1">
            <a:spLocks noGrp="1"/>
          </p:cNvSpPr>
          <p:nvPr>
            <p:ph type="body" idx="1"/>
          </p:nvPr>
        </p:nvSpPr>
        <p:spPr>
          <a:xfrm>
            <a:off x="544171" y="4548205"/>
            <a:ext cx="5709333" cy="469669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p>
        </p:txBody>
      </p:sp>
      <p:sp>
        <p:nvSpPr>
          <p:cNvPr id="209" name="Google Shape;209;p6: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544171" y="4548205"/>
            <a:ext cx="5709333" cy="4696698"/>
          </a:xfrm>
          <a:prstGeom prst="rect">
            <a:avLst/>
          </a:prstGeom>
        </p:spPr>
        <p:txBody>
          <a:bodyPr spcFirstLastPara="1" wrap="square" lIns="0" tIns="0" rIns="0" bIns="0" anchor="t" anchorCtr="0">
            <a:noAutofit/>
          </a:bodyPr>
          <a:lstStyle/>
          <a:p>
            <a:pPr marL="0" lvl="0" indent="0" algn="l" rtl="0">
              <a:spcBef>
                <a:spcPts val="0"/>
              </a:spcBef>
              <a:spcAft>
                <a:spcPts val="0"/>
              </a:spcAft>
              <a:buNone/>
            </a:pPr>
          </a:p>
        </p:txBody>
      </p:sp>
      <p:sp>
        <p:nvSpPr>
          <p:cNvPr id="215" name="Google Shape;215;p7: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9"/>
        <p:cNvGrpSpPr/>
        <p:nvPr/>
      </p:nvGrpSpPr>
      <p:grpSpPr>
        <a:xfrm>
          <a:off x="0" y="0"/>
          <a:ext cx="0" cy="0"/>
          <a:chOff x="0" y="0"/>
          <a:chExt cx="0" cy="0"/>
        </a:xfrm>
      </p:grpSpPr>
      <p:sp>
        <p:nvSpPr>
          <p:cNvPr id="220" name="Google Shape;220;p8:notes"/>
          <p:cNvSpPr txBox="1">
            <a:spLocks noGrp="1"/>
          </p:cNvSpPr>
          <p:nvPr>
            <p:ph type="body" idx="1"/>
          </p:nvPr>
        </p:nvSpPr>
        <p:spPr>
          <a:xfrm>
            <a:off x="544171" y="4548205"/>
            <a:ext cx="5709333" cy="469669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p>
        </p:txBody>
      </p:sp>
      <p:sp>
        <p:nvSpPr>
          <p:cNvPr id="221" name="Google Shape;221;p8:notes"/>
          <p:cNvSpPr>
            <a:spLocks noGrp="1" noRot="1" noChangeAspect="1"/>
          </p:cNvSpPr>
          <p:nvPr>
            <p:ph type="sldImg" idx="2"/>
          </p:nvPr>
        </p:nvSpPr>
        <p:spPr>
          <a:xfrm>
            <a:off x="557213" y="661988"/>
            <a:ext cx="5715000" cy="3214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with picture - short">
  <p:cSld name="Title with picture - short">
    <p:bg>
      <p:bgPr>
        <a:blipFill>
          <a:blip r:embed="rId2"/>
          <a:stretch>
            <a:fillRect/>
          </a:stretch>
        </a:blipFill>
        <a:effectLst/>
      </p:bgPr>
    </p:bg>
    <p:spTree>
      <p:nvGrpSpPr>
        <p:cNvPr id="1" name="Shape 14"/>
        <p:cNvGrpSpPr/>
        <p:nvPr/>
      </p:nvGrpSpPr>
      <p:grpSpPr>
        <a:xfrm>
          <a:off x="0" y="0"/>
          <a:ext cx="0" cy="0"/>
          <a:chOff x="0" y="0"/>
          <a:chExt cx="0" cy="0"/>
        </a:xfrm>
      </p:grpSpPr>
      <p:sp>
        <p:nvSpPr>
          <p:cNvPr id="15" name="Google Shape;15;p10"/>
          <p:cNvSpPr/>
          <p:nvPr/>
        </p:nvSpPr>
        <p:spPr>
          <a:xfrm>
            <a:off x="324000" y="0"/>
            <a:ext cx="11545200" cy="2160000"/>
          </a:xfrm>
          <a:prstGeom prst="rect">
            <a:avLst/>
          </a:prstGeom>
          <a:solidFill>
            <a:schemeClr val="lt1">
              <a:alpha val="74509"/>
            </a:schemeClr>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6" name="Google Shape;16;p10"/>
          <p:cNvSpPr txBox="1">
            <a:spLocks noGrp="1"/>
          </p:cNvSpPr>
          <p:nvPr>
            <p:ph type="title"/>
          </p:nvPr>
        </p:nvSpPr>
        <p:spPr>
          <a:xfrm>
            <a:off x="467999" y="324075"/>
            <a:ext cx="10620000" cy="92333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6000"/>
              <a:buFont typeface="Arial" panose="020B0604020202020204"/>
              <a:buNone/>
              <a:defRPr sz="6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0"/>
          <p:cNvSpPr/>
          <p:nvPr/>
        </p:nvSpPr>
        <p:spPr>
          <a:xfrm>
            <a:off x="324000" y="0"/>
            <a:ext cx="11545200" cy="162038"/>
          </a:xfrm>
          <a:prstGeom prst="rect">
            <a:avLst/>
          </a:prstGeom>
          <a:solidFill>
            <a:schemeClr val="accent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8" name="Google Shape;18;p10"/>
          <p:cNvSpPr txBox="1">
            <a:spLocks noGrp="1"/>
          </p:cNvSpPr>
          <p:nvPr>
            <p:ph type="subTitle" idx="1"/>
          </p:nvPr>
        </p:nvSpPr>
        <p:spPr>
          <a:xfrm>
            <a:off x="467999" y="1540520"/>
            <a:ext cx="10620000" cy="553998"/>
          </a:xfrm>
          <a:prstGeom prst="rect">
            <a:avLst/>
          </a:prstGeom>
          <a:noFill/>
          <a:ln>
            <a:noFill/>
          </a:ln>
        </p:spPr>
        <p:txBody>
          <a:bodyPr spcFirstLastPara="1" wrap="square" lIns="0" tIns="0" rIns="0" bIns="0" anchor="b" anchorCtr="0">
            <a:spAutoFit/>
          </a:bodyPr>
          <a:lstStyle>
            <a:lvl1pPr marR="0" lvl="0" algn="l">
              <a:lnSpc>
                <a:spcPct val="100000"/>
              </a:lnSpc>
              <a:spcBef>
                <a:spcPts val="0"/>
              </a:spcBef>
              <a:spcAft>
                <a:spcPts val="0"/>
              </a:spcAft>
              <a:buClr>
                <a:schemeClr val="accent1"/>
              </a:buClr>
              <a:buSzPts val="1440"/>
              <a:buFont typeface="Arial" panose="020B0604020202020204"/>
              <a:buNone/>
              <a:defRPr sz="1800" b="0">
                <a:solidFill>
                  <a:srgbClr val="000000"/>
                </a:solidFill>
              </a:defRPr>
            </a:lvl1pPr>
            <a:lvl2pPr lvl="1" algn="ctr">
              <a:lnSpc>
                <a:spcPct val="100000"/>
              </a:lnSpc>
              <a:spcBef>
                <a:spcPts val="340"/>
              </a:spcBef>
              <a:spcAft>
                <a:spcPts val="0"/>
              </a:spcAft>
              <a:buSzPts val="1600"/>
              <a:buNone/>
              <a:defRPr>
                <a:solidFill>
                  <a:srgbClr val="888888"/>
                </a:solidFill>
              </a:defRPr>
            </a:lvl2pPr>
            <a:lvl3pPr lvl="2" algn="ctr">
              <a:lnSpc>
                <a:spcPct val="100000"/>
              </a:lnSpc>
              <a:spcBef>
                <a:spcPts val="225"/>
              </a:spcBef>
              <a:spcAft>
                <a:spcPts val="0"/>
              </a:spcAft>
              <a:buSzPts val="1088"/>
              <a:buNone/>
              <a:defRPr>
                <a:solidFill>
                  <a:srgbClr val="888888"/>
                </a:solidFill>
              </a:defRPr>
            </a:lvl3pPr>
            <a:lvl4pPr lvl="3" algn="ctr">
              <a:lnSpc>
                <a:spcPct val="100000"/>
              </a:lnSpc>
              <a:spcBef>
                <a:spcPts val="140"/>
              </a:spcBef>
              <a:spcAft>
                <a:spcPts val="0"/>
              </a:spcAft>
              <a:buSzPts val="975"/>
              <a:buNone/>
              <a:defRPr>
                <a:solidFill>
                  <a:srgbClr val="888888"/>
                </a:solidFill>
              </a:defRPr>
            </a:lvl4pPr>
            <a:lvl5pPr lvl="4" algn="ctr">
              <a:lnSpc>
                <a:spcPct val="100000"/>
              </a:lnSpc>
              <a:spcBef>
                <a:spcPts val="250"/>
              </a:spcBef>
              <a:spcAft>
                <a:spcPts val="0"/>
              </a:spcAft>
              <a:buSzPts val="1600"/>
              <a:buNone/>
              <a:defRPr>
                <a:solidFill>
                  <a:srgbClr val="888888"/>
                </a:solidFill>
              </a:defRPr>
            </a:lvl5pPr>
            <a:lvl6pPr lvl="5" algn="ctr">
              <a:lnSpc>
                <a:spcPct val="100000"/>
              </a:lnSpc>
              <a:spcBef>
                <a:spcPts val="480"/>
              </a:spcBef>
              <a:spcAft>
                <a:spcPts val="0"/>
              </a:spcAft>
              <a:buClr>
                <a:srgbClr val="888888"/>
              </a:buClr>
              <a:buSzPts val="2400"/>
              <a:buNone/>
              <a:defRPr>
                <a:solidFill>
                  <a:srgbClr val="888888"/>
                </a:solidFill>
              </a:defRPr>
            </a:lvl6pPr>
            <a:lvl7pPr lvl="6" algn="ctr">
              <a:lnSpc>
                <a:spcPct val="100000"/>
              </a:lnSpc>
              <a:spcBef>
                <a:spcPts val="480"/>
              </a:spcBef>
              <a:spcAft>
                <a:spcPts val="0"/>
              </a:spcAft>
              <a:buClr>
                <a:srgbClr val="888888"/>
              </a:buClr>
              <a:buSzPts val="2400"/>
              <a:buNone/>
              <a:defRPr>
                <a:solidFill>
                  <a:srgbClr val="888888"/>
                </a:solidFill>
              </a:defRPr>
            </a:lvl7pPr>
            <a:lvl8pPr lvl="7" algn="ctr">
              <a:lnSpc>
                <a:spcPct val="100000"/>
              </a:lnSpc>
              <a:spcBef>
                <a:spcPts val="480"/>
              </a:spcBef>
              <a:spcAft>
                <a:spcPts val="0"/>
              </a:spcAft>
              <a:buClr>
                <a:srgbClr val="888888"/>
              </a:buClr>
              <a:buSzPts val="2400"/>
              <a:buNone/>
              <a:defRPr>
                <a:solidFill>
                  <a:srgbClr val="888888"/>
                </a:solidFill>
              </a:defRPr>
            </a:lvl8pPr>
            <a:lvl9pPr lvl="8" algn="ctr">
              <a:lnSpc>
                <a:spcPct val="100000"/>
              </a:lnSpc>
              <a:spcBef>
                <a:spcPts val="480"/>
              </a:spcBef>
              <a:spcAft>
                <a:spcPts val="0"/>
              </a:spcAft>
              <a:buClr>
                <a:srgbClr val="888888"/>
              </a:buClr>
              <a:buSzPts val="2400"/>
              <a:buNone/>
              <a:defRPr>
                <a:solidFill>
                  <a:srgbClr val="888888"/>
                </a:solidFill>
              </a:defRPr>
            </a:lvl9pPr>
          </a:lstStyle>
          <a:p/>
        </p:txBody>
      </p:sp>
      <p:grpSp>
        <p:nvGrpSpPr>
          <p:cNvPr id="19" name="Google Shape;19;p10"/>
          <p:cNvGrpSpPr/>
          <p:nvPr/>
        </p:nvGrpSpPr>
        <p:grpSpPr>
          <a:xfrm>
            <a:off x="10518759" y="6066338"/>
            <a:ext cx="1352566" cy="470987"/>
            <a:chOff x="10518759" y="6066338"/>
            <a:chExt cx="1352566" cy="470987"/>
          </a:xfrm>
        </p:grpSpPr>
        <p:sp>
          <p:nvSpPr>
            <p:cNvPr id="20" name="Google Shape;20;p10"/>
            <p:cNvSpPr/>
            <p:nvPr/>
          </p:nvSpPr>
          <p:spPr>
            <a:xfrm>
              <a:off x="10518759" y="6088062"/>
              <a:ext cx="1352566" cy="449263"/>
            </a:xfrm>
            <a:prstGeom prst="rect">
              <a:avLst/>
            </a:prstGeom>
            <a:solidFill>
              <a:schemeClr val="lt1"/>
            </a:solidFill>
            <a:ln>
              <a:noFill/>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1" name="Google Shape;21;p10"/>
            <p:cNvPicPr preferRelativeResize="0"/>
            <p:nvPr/>
          </p:nvPicPr>
          <p:blipFill rotWithShape="1">
            <a:blip r:embed="rId3"/>
            <a:srcRect/>
            <a:stretch>
              <a:fillRect/>
            </a:stretch>
          </p:blipFill>
          <p:spPr>
            <a:xfrm>
              <a:off x="10518759" y="6066338"/>
              <a:ext cx="1288232" cy="470987"/>
            </a:xfrm>
            <a:prstGeom prst="rect">
              <a:avLst/>
            </a:prstGeom>
            <a:noFill/>
            <a:ln>
              <a:noFill/>
            </a:ln>
          </p:spPr>
        </p:pic>
      </p:grpSp>
      <p:pic>
        <p:nvPicPr>
          <p:cNvPr id="22" name="Google Shape;22;p10" descr="M:\Dokumente\UCC_Partner\Logos\SAP UA Logo\SAP_University_Alliances_Logo_2013_Februar\RGB\SAP_UniversityAlliances_scrn_R_pos_stac3.png"/>
          <p:cNvPicPr preferRelativeResize="0"/>
          <p:nvPr/>
        </p:nvPicPr>
        <p:blipFill rotWithShape="1">
          <a:blip r:embed="rId4"/>
          <a:srcRect/>
          <a:stretch>
            <a:fillRect/>
          </a:stretch>
        </p:blipFill>
        <p:spPr>
          <a:xfrm>
            <a:off x="324000" y="6184900"/>
            <a:ext cx="647700" cy="3524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3"/>
        <p:cNvGrpSpPr/>
        <p:nvPr/>
      </p:nvGrpSpPr>
      <p:grpSpPr>
        <a:xfrm>
          <a:off x="0" y="0"/>
          <a:ext cx="0" cy="0"/>
          <a:chOff x="0" y="0"/>
          <a:chExt cx="0" cy="0"/>
        </a:xfrm>
      </p:grpSpPr>
      <p:sp>
        <p:nvSpPr>
          <p:cNvPr id="24" name="Google Shape;24;p11"/>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1"/>
          <p:cNvSpPr txBox="1">
            <a:spLocks noGrp="1"/>
          </p:cNvSpPr>
          <p:nvPr>
            <p:ph type="body" idx="1"/>
          </p:nvPr>
        </p:nvSpPr>
        <p:spPr>
          <a:xfrm>
            <a:off x="324000" y="1691079"/>
            <a:ext cx="115452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6" name="Google Shape;26;p1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FDB913"/>
              </a:buClr>
              <a:buSzPts val="2100"/>
              <a:buFont typeface="Noto Sans Symbols"/>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666666"/>
              </a:buClr>
              <a:buSzPts val="1360"/>
              <a:buFont typeface="Noto Sans Symbols"/>
              <a:buChar char="■"/>
              <a:defRPr sz="1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666666"/>
              </a:buClr>
              <a:buSzPts val="112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666666"/>
              </a:buClr>
              <a:buSzPts val="960"/>
              <a:buFont typeface="Arial" panose="020B0604020202020204"/>
              <a:buChar char=""/>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7" name="Google Shape;27;p1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FDB913"/>
              </a:buClr>
              <a:buSzPts val="2100"/>
              <a:buFont typeface="Noto Sans Symbols"/>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666666"/>
              </a:buClr>
              <a:buSzPts val="1360"/>
              <a:buFont typeface="Noto Sans Symbols"/>
              <a:buChar char="■"/>
              <a:defRPr sz="1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666666"/>
              </a:buClr>
              <a:buSzPts val="112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666666"/>
              </a:buClr>
              <a:buSzPts val="960"/>
              <a:buFont typeface="Arial" panose="020B0604020202020204"/>
              <a:buChar char=""/>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8" name="Google Shape;28;p1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2100"/>
              <a:buFont typeface="Arial" panose="020B0604020202020204"/>
              <a:buNone/>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el und Text">
  <p:cSld name="Titel und Text">
    <p:spTree>
      <p:nvGrpSpPr>
        <p:cNvPr id="1" name="Shape 29"/>
        <p:cNvGrpSpPr/>
        <p:nvPr/>
      </p:nvGrpSpPr>
      <p:grpSpPr>
        <a:xfrm>
          <a:off x="0" y="0"/>
          <a:ext cx="0" cy="0"/>
          <a:chOff x="0" y="0"/>
          <a:chExt cx="0" cy="0"/>
        </a:xfrm>
      </p:grpSpPr>
      <p:sp>
        <p:nvSpPr>
          <p:cNvPr id="30" name="Google Shape;30;p12"/>
          <p:cNvSpPr txBox="1">
            <a:spLocks noGrp="1"/>
          </p:cNvSpPr>
          <p:nvPr>
            <p:ph type="body" idx="1"/>
          </p:nvPr>
        </p:nvSpPr>
        <p:spPr>
          <a:xfrm>
            <a:off x="324000" y="1691079"/>
            <a:ext cx="115452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31" name="Google Shape;31;p12"/>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2800"/>
              <a:buFont typeface="Arial" panose="020B060402020202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ntact / Thank You">
  <p:cSld name="Contact / Thank You">
    <p:bg>
      <p:bgPr>
        <a:solidFill>
          <a:schemeClr val="lt1"/>
        </a:solidFill>
        <a:effectLst/>
      </p:bgPr>
    </p:bg>
    <p:spTree>
      <p:nvGrpSpPr>
        <p:cNvPr id="1" name="Shape 32"/>
        <p:cNvGrpSpPr/>
        <p:nvPr/>
      </p:nvGrpSpPr>
      <p:grpSpPr>
        <a:xfrm>
          <a:off x="0" y="0"/>
          <a:ext cx="0" cy="0"/>
          <a:chOff x="0" y="0"/>
          <a:chExt cx="0" cy="0"/>
        </a:xfrm>
      </p:grpSpPr>
      <p:sp>
        <p:nvSpPr>
          <p:cNvPr id="33" name="Google Shape;33;p13"/>
          <p:cNvSpPr/>
          <p:nvPr/>
        </p:nvSpPr>
        <p:spPr>
          <a:xfrm>
            <a:off x="324000" y="0"/>
            <a:ext cx="11545200" cy="162038"/>
          </a:xfrm>
          <a:prstGeom prst="rect">
            <a:avLst/>
          </a:prstGeom>
          <a:solidFill>
            <a:schemeClr val="accent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4" name="Google Shape;34;p13"/>
          <p:cNvPicPr preferRelativeResize="0"/>
          <p:nvPr/>
        </p:nvPicPr>
        <p:blipFill rotWithShape="1">
          <a:blip r:embed="rId2"/>
          <a:srcRect/>
          <a:stretch>
            <a:fillRect/>
          </a:stretch>
        </p:blipFill>
        <p:spPr>
          <a:xfrm>
            <a:off x="325437" y="478741"/>
            <a:ext cx="1833518" cy="907200"/>
          </a:xfrm>
          <a:prstGeom prst="rect">
            <a:avLst/>
          </a:prstGeom>
          <a:noFill/>
          <a:ln>
            <a:noFill/>
          </a:ln>
        </p:spPr>
      </p:pic>
      <p:sp>
        <p:nvSpPr>
          <p:cNvPr id="35" name="Google Shape;35;p13"/>
          <p:cNvSpPr txBox="1"/>
          <p:nvPr/>
        </p:nvSpPr>
        <p:spPr>
          <a:xfrm>
            <a:off x="324000" y="2061275"/>
            <a:ext cx="1154520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0"/>
              <a:buFont typeface="Arial" panose="020B0604020202020204"/>
              <a:buNone/>
            </a:pPr>
            <a:r>
              <a:rPr lang="en-US" sz="6000" b="0" i="0" u="none" strike="noStrike" cap="none">
                <a:solidFill>
                  <a:schemeClr val="dk1"/>
                </a:solidFill>
                <a:latin typeface="Arial" panose="020B0604020202020204"/>
                <a:ea typeface="Arial" panose="020B0604020202020204"/>
                <a:cs typeface="Arial" panose="020B0604020202020204"/>
                <a:sym typeface="Arial" panose="020B0604020202020204"/>
              </a:rPr>
              <a:t>Thank you!</a:t>
            </a:r>
            <a:endParaRPr sz="6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6" name="Google Shape;36;p13"/>
          <p:cNvSpPr txBox="1">
            <a:spLocks noGrp="1"/>
          </p:cNvSpPr>
          <p:nvPr>
            <p:ph type="body" idx="1"/>
          </p:nvPr>
        </p:nvSpPr>
        <p:spPr>
          <a:xfrm>
            <a:off x="3925792" y="3659939"/>
            <a:ext cx="4341615" cy="2141713"/>
          </a:xfrm>
          <a:prstGeom prst="rect">
            <a:avLst/>
          </a:prstGeom>
          <a:noFill/>
          <a:ln w="9525" cap="flat" cmpd="sng">
            <a:solidFill>
              <a:schemeClr val="accent1"/>
            </a:solidFill>
            <a:prstDash val="solid"/>
            <a:round/>
            <a:headEnd type="none" w="sm" len="sm"/>
            <a:tailEnd type="none" w="sm" len="sm"/>
          </a:ln>
        </p:spPr>
        <p:txBody>
          <a:bodyPr spcFirstLastPara="1" wrap="square" lIns="108000" tIns="108000" rIns="108000" bIns="108000" anchor="t" anchorCtr="0">
            <a:noAutofit/>
          </a:bodyPr>
          <a:lstStyle>
            <a:lvl1pPr marL="457200" lvl="0" indent="-228600" algn="l">
              <a:lnSpc>
                <a:spcPct val="100000"/>
              </a:lnSpc>
              <a:spcBef>
                <a:spcPts val="600"/>
              </a:spcBef>
              <a:spcAft>
                <a:spcPts val="0"/>
              </a:spcAft>
              <a:buClr>
                <a:srgbClr val="F0AB00"/>
              </a:buClr>
              <a:buSzPts val="1920"/>
              <a:buNone/>
              <a:defRPr sz="2400" b="1">
                <a:solidFill>
                  <a:schemeClr val="dk1"/>
                </a:solidFill>
              </a:defRPr>
            </a:lvl1pPr>
            <a:lvl2pPr marL="914400" lvl="1" indent="-228600" algn="l">
              <a:lnSpc>
                <a:spcPct val="100000"/>
              </a:lnSpc>
              <a:spcBef>
                <a:spcPts val="340"/>
              </a:spcBef>
              <a:spcAft>
                <a:spcPts val="0"/>
              </a:spcAft>
              <a:buSzPts val="1600"/>
              <a:buNone/>
              <a:defRPr/>
            </a:lvl2pPr>
            <a:lvl3pPr marL="1371600" lvl="2" indent="-228600" algn="l">
              <a:lnSpc>
                <a:spcPct val="100000"/>
              </a:lnSpc>
              <a:spcBef>
                <a:spcPts val="225"/>
              </a:spcBef>
              <a:spcAft>
                <a:spcPts val="0"/>
              </a:spcAft>
              <a:buSzPts val="1088"/>
              <a:buNone/>
              <a:defRPr/>
            </a:lvl3pPr>
            <a:lvl4pPr marL="1828800" lvl="3" indent="-228600" algn="l">
              <a:lnSpc>
                <a:spcPct val="100000"/>
              </a:lnSpc>
              <a:spcBef>
                <a:spcPts val="140"/>
              </a:spcBef>
              <a:spcAft>
                <a:spcPts val="0"/>
              </a:spcAft>
              <a:buSzPts val="975"/>
              <a:buNone/>
              <a:defRPr/>
            </a:lvl4pPr>
            <a:lvl5pPr marL="2286000" lvl="4" indent="-228600" algn="l">
              <a:lnSpc>
                <a:spcPct val="100000"/>
              </a:lnSpc>
              <a:spcBef>
                <a:spcPts val="250"/>
              </a:spcBef>
              <a:spcAft>
                <a:spcPts val="0"/>
              </a:spcAft>
              <a:buSzPts val="16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with picture - two lines">
  <p:cSld name="Title with picture - two lines">
    <p:bg>
      <p:bgPr>
        <a:solidFill>
          <a:srgbClr val="E0E0E0"/>
        </a:solidFill>
        <a:effectLst/>
      </p:bgPr>
    </p:bg>
    <p:spTree>
      <p:nvGrpSpPr>
        <p:cNvPr id="1" name="Shape 37"/>
        <p:cNvGrpSpPr/>
        <p:nvPr/>
      </p:nvGrpSpPr>
      <p:grpSpPr>
        <a:xfrm>
          <a:off x="0" y="0"/>
          <a:ext cx="0" cy="0"/>
          <a:chOff x="0" y="0"/>
          <a:chExt cx="0" cy="0"/>
        </a:xfrm>
      </p:grpSpPr>
      <p:sp>
        <p:nvSpPr>
          <p:cNvPr id="38" name="Google Shape;38;p14"/>
          <p:cNvSpPr/>
          <p:nvPr/>
        </p:nvSpPr>
        <p:spPr>
          <a:xfrm>
            <a:off x="324000" y="0"/>
            <a:ext cx="11545200" cy="2160000"/>
          </a:xfrm>
          <a:prstGeom prst="rect">
            <a:avLst/>
          </a:prstGeom>
          <a:solidFill>
            <a:schemeClr val="lt1">
              <a:alpha val="74509"/>
            </a:schemeClr>
          </a:solidFill>
          <a:ln>
            <a:noFill/>
          </a:ln>
        </p:spPr>
        <p:txBody>
          <a:bodyPr spcFirstLastPara="1" wrap="square" lIns="107150" tIns="85725" rIns="107150" bIns="85725" anchor="b"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9" name="Google Shape;39;p14"/>
          <p:cNvSpPr/>
          <p:nvPr/>
        </p:nvSpPr>
        <p:spPr>
          <a:xfrm>
            <a:off x="324000" y="0"/>
            <a:ext cx="11545200" cy="162038"/>
          </a:xfrm>
          <a:prstGeom prst="rect">
            <a:avLst/>
          </a:prstGeom>
          <a:solidFill>
            <a:schemeClr val="accent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40" name="Google Shape;40;p14"/>
          <p:cNvSpPr txBox="1">
            <a:spLocks noGrp="1"/>
          </p:cNvSpPr>
          <p:nvPr>
            <p:ph type="subTitle" idx="1"/>
          </p:nvPr>
        </p:nvSpPr>
        <p:spPr>
          <a:xfrm>
            <a:off x="467999" y="1539177"/>
            <a:ext cx="10620000" cy="553998"/>
          </a:xfrm>
          <a:prstGeom prst="rect">
            <a:avLst/>
          </a:prstGeom>
          <a:noFill/>
          <a:ln>
            <a:noFill/>
          </a:ln>
        </p:spPr>
        <p:txBody>
          <a:bodyPr spcFirstLastPara="1" wrap="square" lIns="0" tIns="0" rIns="0" bIns="0" anchor="b" anchorCtr="0">
            <a:spAutoFit/>
          </a:bodyPr>
          <a:lstStyle>
            <a:lvl1pPr marR="0" lvl="0" algn="l">
              <a:lnSpc>
                <a:spcPct val="100000"/>
              </a:lnSpc>
              <a:spcBef>
                <a:spcPts val="0"/>
              </a:spcBef>
              <a:spcAft>
                <a:spcPts val="0"/>
              </a:spcAft>
              <a:buClr>
                <a:schemeClr val="accent1"/>
              </a:buClr>
              <a:buSzPts val="1440"/>
              <a:buFont typeface="Arial" panose="020B0604020202020204"/>
              <a:buNone/>
              <a:defRPr sz="1800" b="0">
                <a:solidFill>
                  <a:srgbClr val="000000"/>
                </a:solidFill>
              </a:defRPr>
            </a:lvl1pPr>
            <a:lvl2pPr lvl="1" algn="ctr">
              <a:lnSpc>
                <a:spcPct val="100000"/>
              </a:lnSpc>
              <a:spcBef>
                <a:spcPts val="340"/>
              </a:spcBef>
              <a:spcAft>
                <a:spcPts val="0"/>
              </a:spcAft>
              <a:buSzPts val="1600"/>
              <a:buNone/>
              <a:defRPr>
                <a:solidFill>
                  <a:srgbClr val="888888"/>
                </a:solidFill>
              </a:defRPr>
            </a:lvl2pPr>
            <a:lvl3pPr lvl="2" algn="ctr">
              <a:lnSpc>
                <a:spcPct val="100000"/>
              </a:lnSpc>
              <a:spcBef>
                <a:spcPts val="225"/>
              </a:spcBef>
              <a:spcAft>
                <a:spcPts val="0"/>
              </a:spcAft>
              <a:buSzPts val="1088"/>
              <a:buNone/>
              <a:defRPr>
                <a:solidFill>
                  <a:srgbClr val="888888"/>
                </a:solidFill>
              </a:defRPr>
            </a:lvl3pPr>
            <a:lvl4pPr lvl="3" algn="ctr">
              <a:lnSpc>
                <a:spcPct val="100000"/>
              </a:lnSpc>
              <a:spcBef>
                <a:spcPts val="140"/>
              </a:spcBef>
              <a:spcAft>
                <a:spcPts val="0"/>
              </a:spcAft>
              <a:buSzPts val="975"/>
              <a:buNone/>
              <a:defRPr>
                <a:solidFill>
                  <a:srgbClr val="888888"/>
                </a:solidFill>
              </a:defRPr>
            </a:lvl4pPr>
            <a:lvl5pPr lvl="4" algn="ctr">
              <a:lnSpc>
                <a:spcPct val="100000"/>
              </a:lnSpc>
              <a:spcBef>
                <a:spcPts val="250"/>
              </a:spcBef>
              <a:spcAft>
                <a:spcPts val="0"/>
              </a:spcAft>
              <a:buSzPts val="1600"/>
              <a:buNone/>
              <a:defRPr>
                <a:solidFill>
                  <a:srgbClr val="888888"/>
                </a:solidFill>
              </a:defRPr>
            </a:lvl5pPr>
            <a:lvl6pPr lvl="5" algn="ctr">
              <a:lnSpc>
                <a:spcPct val="100000"/>
              </a:lnSpc>
              <a:spcBef>
                <a:spcPts val="480"/>
              </a:spcBef>
              <a:spcAft>
                <a:spcPts val="0"/>
              </a:spcAft>
              <a:buClr>
                <a:srgbClr val="888888"/>
              </a:buClr>
              <a:buSzPts val="2400"/>
              <a:buNone/>
              <a:defRPr>
                <a:solidFill>
                  <a:srgbClr val="888888"/>
                </a:solidFill>
              </a:defRPr>
            </a:lvl6pPr>
            <a:lvl7pPr lvl="6" algn="ctr">
              <a:lnSpc>
                <a:spcPct val="100000"/>
              </a:lnSpc>
              <a:spcBef>
                <a:spcPts val="480"/>
              </a:spcBef>
              <a:spcAft>
                <a:spcPts val="0"/>
              </a:spcAft>
              <a:buClr>
                <a:srgbClr val="888888"/>
              </a:buClr>
              <a:buSzPts val="2400"/>
              <a:buNone/>
              <a:defRPr>
                <a:solidFill>
                  <a:srgbClr val="888888"/>
                </a:solidFill>
              </a:defRPr>
            </a:lvl7pPr>
            <a:lvl8pPr lvl="7" algn="ctr">
              <a:lnSpc>
                <a:spcPct val="100000"/>
              </a:lnSpc>
              <a:spcBef>
                <a:spcPts val="480"/>
              </a:spcBef>
              <a:spcAft>
                <a:spcPts val="0"/>
              </a:spcAft>
              <a:buClr>
                <a:srgbClr val="888888"/>
              </a:buClr>
              <a:buSzPts val="2400"/>
              <a:buNone/>
              <a:defRPr>
                <a:solidFill>
                  <a:srgbClr val="888888"/>
                </a:solidFill>
              </a:defRPr>
            </a:lvl8pPr>
            <a:lvl9pPr lvl="8" algn="ctr">
              <a:lnSpc>
                <a:spcPct val="100000"/>
              </a:lnSpc>
              <a:spcBef>
                <a:spcPts val="480"/>
              </a:spcBef>
              <a:spcAft>
                <a:spcPts val="0"/>
              </a:spcAft>
              <a:buClr>
                <a:srgbClr val="888888"/>
              </a:buClr>
              <a:buSzPts val="2400"/>
              <a:buNone/>
              <a:defRPr>
                <a:solidFill>
                  <a:srgbClr val="888888"/>
                </a:solidFill>
              </a:defRPr>
            </a:lvl9pPr>
          </a:lstStyle>
          <a:p/>
        </p:txBody>
      </p:sp>
      <p:sp>
        <p:nvSpPr>
          <p:cNvPr id="41" name="Google Shape;41;p14"/>
          <p:cNvSpPr txBox="1">
            <a:spLocks noGrp="1"/>
          </p:cNvSpPr>
          <p:nvPr>
            <p:ph type="ctrTitle"/>
          </p:nvPr>
        </p:nvSpPr>
        <p:spPr>
          <a:xfrm>
            <a:off x="467999" y="324075"/>
            <a:ext cx="10620000" cy="1107996"/>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000000"/>
              </a:buClr>
              <a:buSzPts val="3600"/>
              <a:buFont typeface="Arial" panose="020B0604020202020204"/>
              <a:buNone/>
              <a:defRPr sz="3600">
                <a:solidFill>
                  <a:srgbClr val="000000"/>
                </a:solidFill>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4"/>
          <p:cNvSpPr txBox="1"/>
          <p:nvPr/>
        </p:nvSpPr>
        <p:spPr>
          <a:xfrm rot="-240000">
            <a:off x="4212456" y="3628659"/>
            <a:ext cx="3770263"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Use this title slide only with an image</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3" name="Google Shape;43;p14"/>
          <p:cNvPicPr preferRelativeResize="0"/>
          <p:nvPr/>
        </p:nvPicPr>
        <p:blipFill rotWithShape="1">
          <a:blip r:embed="rId2"/>
          <a:srcRect/>
          <a:stretch>
            <a:fillRect/>
          </a:stretch>
        </p:blipFill>
        <p:spPr>
          <a:xfrm>
            <a:off x="325438" y="6083725"/>
            <a:ext cx="916759" cy="4536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 short">
  <p:cSld name="Title - short">
    <p:bg>
      <p:bgPr>
        <a:solidFill>
          <a:schemeClr val="lt1"/>
        </a:solidFill>
        <a:effectLst/>
      </p:bgPr>
    </p:bg>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323999" y="324075"/>
            <a:ext cx="10620000" cy="92333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6000"/>
              <a:buFont typeface="Arial" panose="020B0604020202020204"/>
              <a:buNone/>
              <a:defRPr sz="6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5"/>
          <p:cNvSpPr txBox="1">
            <a:spLocks noGrp="1"/>
          </p:cNvSpPr>
          <p:nvPr>
            <p:ph type="subTitle" idx="1"/>
          </p:nvPr>
        </p:nvSpPr>
        <p:spPr>
          <a:xfrm>
            <a:off x="324000" y="1539177"/>
            <a:ext cx="10620000" cy="553998"/>
          </a:xfrm>
          <a:prstGeom prst="rect">
            <a:avLst/>
          </a:prstGeom>
          <a:noFill/>
          <a:ln>
            <a:noFill/>
          </a:ln>
        </p:spPr>
        <p:txBody>
          <a:bodyPr spcFirstLastPara="1" wrap="square" lIns="0" tIns="0" rIns="0" bIns="0" anchor="b" anchorCtr="0">
            <a:spAutoFit/>
          </a:bodyPr>
          <a:lstStyle>
            <a:lvl1pPr marR="0" lvl="0" algn="l">
              <a:lnSpc>
                <a:spcPct val="100000"/>
              </a:lnSpc>
              <a:spcBef>
                <a:spcPts val="0"/>
              </a:spcBef>
              <a:spcAft>
                <a:spcPts val="0"/>
              </a:spcAft>
              <a:buClr>
                <a:schemeClr val="accent1"/>
              </a:buClr>
              <a:buSzPts val="1440"/>
              <a:buFont typeface="Arial" panose="020B0604020202020204"/>
              <a:buNone/>
              <a:defRPr sz="1800" b="0">
                <a:solidFill>
                  <a:srgbClr val="000000"/>
                </a:solidFill>
              </a:defRPr>
            </a:lvl1pPr>
            <a:lvl2pPr lvl="1" algn="ctr">
              <a:lnSpc>
                <a:spcPct val="100000"/>
              </a:lnSpc>
              <a:spcBef>
                <a:spcPts val="340"/>
              </a:spcBef>
              <a:spcAft>
                <a:spcPts val="0"/>
              </a:spcAft>
              <a:buSzPts val="1600"/>
              <a:buNone/>
              <a:defRPr>
                <a:solidFill>
                  <a:srgbClr val="888888"/>
                </a:solidFill>
              </a:defRPr>
            </a:lvl2pPr>
            <a:lvl3pPr lvl="2" algn="ctr">
              <a:lnSpc>
                <a:spcPct val="100000"/>
              </a:lnSpc>
              <a:spcBef>
                <a:spcPts val="225"/>
              </a:spcBef>
              <a:spcAft>
                <a:spcPts val="0"/>
              </a:spcAft>
              <a:buSzPts val="1088"/>
              <a:buNone/>
              <a:defRPr>
                <a:solidFill>
                  <a:srgbClr val="888888"/>
                </a:solidFill>
              </a:defRPr>
            </a:lvl3pPr>
            <a:lvl4pPr lvl="3" algn="ctr">
              <a:lnSpc>
                <a:spcPct val="100000"/>
              </a:lnSpc>
              <a:spcBef>
                <a:spcPts val="140"/>
              </a:spcBef>
              <a:spcAft>
                <a:spcPts val="0"/>
              </a:spcAft>
              <a:buSzPts val="975"/>
              <a:buNone/>
              <a:defRPr>
                <a:solidFill>
                  <a:srgbClr val="888888"/>
                </a:solidFill>
              </a:defRPr>
            </a:lvl4pPr>
            <a:lvl5pPr lvl="4" algn="ctr">
              <a:lnSpc>
                <a:spcPct val="100000"/>
              </a:lnSpc>
              <a:spcBef>
                <a:spcPts val="250"/>
              </a:spcBef>
              <a:spcAft>
                <a:spcPts val="0"/>
              </a:spcAft>
              <a:buSzPts val="1600"/>
              <a:buNone/>
              <a:defRPr>
                <a:solidFill>
                  <a:srgbClr val="888888"/>
                </a:solidFill>
              </a:defRPr>
            </a:lvl5pPr>
            <a:lvl6pPr lvl="5" algn="ctr">
              <a:lnSpc>
                <a:spcPct val="100000"/>
              </a:lnSpc>
              <a:spcBef>
                <a:spcPts val="480"/>
              </a:spcBef>
              <a:spcAft>
                <a:spcPts val="0"/>
              </a:spcAft>
              <a:buClr>
                <a:srgbClr val="888888"/>
              </a:buClr>
              <a:buSzPts val="2400"/>
              <a:buNone/>
              <a:defRPr>
                <a:solidFill>
                  <a:srgbClr val="888888"/>
                </a:solidFill>
              </a:defRPr>
            </a:lvl6pPr>
            <a:lvl7pPr lvl="6" algn="ctr">
              <a:lnSpc>
                <a:spcPct val="100000"/>
              </a:lnSpc>
              <a:spcBef>
                <a:spcPts val="480"/>
              </a:spcBef>
              <a:spcAft>
                <a:spcPts val="0"/>
              </a:spcAft>
              <a:buClr>
                <a:srgbClr val="888888"/>
              </a:buClr>
              <a:buSzPts val="2400"/>
              <a:buNone/>
              <a:defRPr>
                <a:solidFill>
                  <a:srgbClr val="888888"/>
                </a:solidFill>
              </a:defRPr>
            </a:lvl7pPr>
            <a:lvl8pPr lvl="7" algn="ctr">
              <a:lnSpc>
                <a:spcPct val="100000"/>
              </a:lnSpc>
              <a:spcBef>
                <a:spcPts val="480"/>
              </a:spcBef>
              <a:spcAft>
                <a:spcPts val="0"/>
              </a:spcAft>
              <a:buClr>
                <a:srgbClr val="888888"/>
              </a:buClr>
              <a:buSzPts val="2400"/>
              <a:buNone/>
              <a:defRPr>
                <a:solidFill>
                  <a:srgbClr val="888888"/>
                </a:solidFill>
              </a:defRPr>
            </a:lvl8pPr>
            <a:lvl9pPr lvl="8" algn="ctr">
              <a:lnSpc>
                <a:spcPct val="100000"/>
              </a:lnSpc>
              <a:spcBef>
                <a:spcPts val="480"/>
              </a:spcBef>
              <a:spcAft>
                <a:spcPts val="0"/>
              </a:spcAft>
              <a:buClr>
                <a:srgbClr val="888888"/>
              </a:buClr>
              <a:buSzPts val="2400"/>
              <a:buNone/>
              <a:defRPr>
                <a:solidFill>
                  <a:srgbClr val="888888"/>
                </a:solidFill>
              </a:defRPr>
            </a:lvl9pPr>
          </a:lstStyle>
          <a:p/>
        </p:txBody>
      </p:sp>
      <p:sp>
        <p:nvSpPr>
          <p:cNvPr id="47" name="Google Shape;47;p15"/>
          <p:cNvSpPr/>
          <p:nvPr/>
        </p:nvSpPr>
        <p:spPr>
          <a:xfrm>
            <a:off x="324000" y="0"/>
            <a:ext cx="11545200" cy="162038"/>
          </a:xfrm>
          <a:prstGeom prst="rect">
            <a:avLst/>
          </a:prstGeom>
          <a:solidFill>
            <a:schemeClr val="accent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48" name="Google Shape;48;p15"/>
          <p:cNvPicPr preferRelativeResize="0"/>
          <p:nvPr/>
        </p:nvPicPr>
        <p:blipFill rotWithShape="1">
          <a:blip r:embed="rId2"/>
          <a:srcRect/>
          <a:stretch>
            <a:fillRect/>
          </a:stretch>
        </p:blipFill>
        <p:spPr>
          <a:xfrm>
            <a:off x="325438" y="6083725"/>
            <a:ext cx="916759" cy="4536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 two lines">
  <p:cSld name="Title - two lines">
    <p:bg>
      <p:bgPr>
        <a:solidFill>
          <a:schemeClr val="lt1"/>
        </a:solidFill>
        <a:effectLst/>
      </p:bgPr>
    </p:bg>
    <p:spTree>
      <p:nvGrpSpPr>
        <p:cNvPr id="1" name="Shape 49"/>
        <p:cNvGrpSpPr/>
        <p:nvPr/>
      </p:nvGrpSpPr>
      <p:grpSpPr>
        <a:xfrm>
          <a:off x="0" y="0"/>
          <a:ext cx="0" cy="0"/>
          <a:chOff x="0" y="0"/>
          <a:chExt cx="0" cy="0"/>
        </a:xfrm>
      </p:grpSpPr>
      <p:sp>
        <p:nvSpPr>
          <p:cNvPr id="50" name="Google Shape;50;p16"/>
          <p:cNvSpPr txBox="1">
            <a:spLocks noGrp="1"/>
          </p:cNvSpPr>
          <p:nvPr>
            <p:ph type="subTitle" idx="1"/>
          </p:nvPr>
        </p:nvSpPr>
        <p:spPr>
          <a:xfrm>
            <a:off x="324000" y="1539177"/>
            <a:ext cx="10620000" cy="553998"/>
          </a:xfrm>
          <a:prstGeom prst="rect">
            <a:avLst/>
          </a:prstGeom>
          <a:noFill/>
          <a:ln>
            <a:noFill/>
          </a:ln>
        </p:spPr>
        <p:txBody>
          <a:bodyPr spcFirstLastPara="1" wrap="square" lIns="0" tIns="0" rIns="0" bIns="0" anchor="b" anchorCtr="0">
            <a:spAutoFit/>
          </a:bodyPr>
          <a:lstStyle>
            <a:lvl1pPr marR="0" lvl="0" algn="l">
              <a:lnSpc>
                <a:spcPct val="100000"/>
              </a:lnSpc>
              <a:spcBef>
                <a:spcPts val="0"/>
              </a:spcBef>
              <a:spcAft>
                <a:spcPts val="0"/>
              </a:spcAft>
              <a:buClr>
                <a:schemeClr val="accent1"/>
              </a:buClr>
              <a:buSzPts val="1440"/>
              <a:buFont typeface="Arial" panose="020B0604020202020204"/>
              <a:buNone/>
              <a:defRPr sz="1800" b="0">
                <a:solidFill>
                  <a:srgbClr val="000000"/>
                </a:solidFill>
              </a:defRPr>
            </a:lvl1pPr>
            <a:lvl2pPr lvl="1" algn="ctr">
              <a:lnSpc>
                <a:spcPct val="100000"/>
              </a:lnSpc>
              <a:spcBef>
                <a:spcPts val="340"/>
              </a:spcBef>
              <a:spcAft>
                <a:spcPts val="0"/>
              </a:spcAft>
              <a:buSzPts val="1600"/>
              <a:buNone/>
              <a:defRPr>
                <a:solidFill>
                  <a:srgbClr val="888888"/>
                </a:solidFill>
              </a:defRPr>
            </a:lvl2pPr>
            <a:lvl3pPr lvl="2" algn="ctr">
              <a:lnSpc>
                <a:spcPct val="100000"/>
              </a:lnSpc>
              <a:spcBef>
                <a:spcPts val="225"/>
              </a:spcBef>
              <a:spcAft>
                <a:spcPts val="0"/>
              </a:spcAft>
              <a:buSzPts val="1088"/>
              <a:buNone/>
              <a:defRPr>
                <a:solidFill>
                  <a:srgbClr val="888888"/>
                </a:solidFill>
              </a:defRPr>
            </a:lvl3pPr>
            <a:lvl4pPr lvl="3" algn="ctr">
              <a:lnSpc>
                <a:spcPct val="100000"/>
              </a:lnSpc>
              <a:spcBef>
                <a:spcPts val="140"/>
              </a:spcBef>
              <a:spcAft>
                <a:spcPts val="0"/>
              </a:spcAft>
              <a:buSzPts val="975"/>
              <a:buNone/>
              <a:defRPr>
                <a:solidFill>
                  <a:srgbClr val="888888"/>
                </a:solidFill>
              </a:defRPr>
            </a:lvl4pPr>
            <a:lvl5pPr lvl="4" algn="ctr">
              <a:lnSpc>
                <a:spcPct val="100000"/>
              </a:lnSpc>
              <a:spcBef>
                <a:spcPts val="250"/>
              </a:spcBef>
              <a:spcAft>
                <a:spcPts val="0"/>
              </a:spcAft>
              <a:buSzPts val="1600"/>
              <a:buNone/>
              <a:defRPr>
                <a:solidFill>
                  <a:srgbClr val="888888"/>
                </a:solidFill>
              </a:defRPr>
            </a:lvl5pPr>
            <a:lvl6pPr lvl="5" algn="ctr">
              <a:lnSpc>
                <a:spcPct val="100000"/>
              </a:lnSpc>
              <a:spcBef>
                <a:spcPts val="480"/>
              </a:spcBef>
              <a:spcAft>
                <a:spcPts val="0"/>
              </a:spcAft>
              <a:buClr>
                <a:srgbClr val="888888"/>
              </a:buClr>
              <a:buSzPts val="2400"/>
              <a:buNone/>
              <a:defRPr>
                <a:solidFill>
                  <a:srgbClr val="888888"/>
                </a:solidFill>
              </a:defRPr>
            </a:lvl6pPr>
            <a:lvl7pPr lvl="6" algn="ctr">
              <a:lnSpc>
                <a:spcPct val="100000"/>
              </a:lnSpc>
              <a:spcBef>
                <a:spcPts val="480"/>
              </a:spcBef>
              <a:spcAft>
                <a:spcPts val="0"/>
              </a:spcAft>
              <a:buClr>
                <a:srgbClr val="888888"/>
              </a:buClr>
              <a:buSzPts val="2400"/>
              <a:buNone/>
              <a:defRPr>
                <a:solidFill>
                  <a:srgbClr val="888888"/>
                </a:solidFill>
              </a:defRPr>
            </a:lvl7pPr>
            <a:lvl8pPr lvl="7" algn="ctr">
              <a:lnSpc>
                <a:spcPct val="100000"/>
              </a:lnSpc>
              <a:spcBef>
                <a:spcPts val="480"/>
              </a:spcBef>
              <a:spcAft>
                <a:spcPts val="0"/>
              </a:spcAft>
              <a:buClr>
                <a:srgbClr val="888888"/>
              </a:buClr>
              <a:buSzPts val="2400"/>
              <a:buNone/>
              <a:defRPr>
                <a:solidFill>
                  <a:srgbClr val="888888"/>
                </a:solidFill>
              </a:defRPr>
            </a:lvl8pPr>
            <a:lvl9pPr lvl="8" algn="ctr">
              <a:lnSpc>
                <a:spcPct val="100000"/>
              </a:lnSpc>
              <a:spcBef>
                <a:spcPts val="480"/>
              </a:spcBef>
              <a:spcAft>
                <a:spcPts val="0"/>
              </a:spcAft>
              <a:buClr>
                <a:srgbClr val="888888"/>
              </a:buClr>
              <a:buSzPts val="2400"/>
              <a:buNone/>
              <a:defRPr>
                <a:solidFill>
                  <a:srgbClr val="888888"/>
                </a:solidFill>
              </a:defRPr>
            </a:lvl9pPr>
          </a:lstStyle>
          <a:p/>
        </p:txBody>
      </p:sp>
      <p:sp>
        <p:nvSpPr>
          <p:cNvPr id="51" name="Google Shape;51;p16"/>
          <p:cNvSpPr txBox="1">
            <a:spLocks noGrp="1"/>
          </p:cNvSpPr>
          <p:nvPr>
            <p:ph type="ctrTitle"/>
          </p:nvPr>
        </p:nvSpPr>
        <p:spPr>
          <a:xfrm>
            <a:off x="323999" y="324075"/>
            <a:ext cx="10620000" cy="1107996"/>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000000"/>
              </a:buClr>
              <a:buSzPts val="3600"/>
              <a:buFont typeface="Arial" panose="020B0604020202020204"/>
              <a:buNone/>
              <a:defRPr sz="3600">
                <a:solidFill>
                  <a:srgbClr val="000000"/>
                </a:solidFill>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p:nvPr/>
        </p:nvSpPr>
        <p:spPr>
          <a:xfrm>
            <a:off x="324000" y="0"/>
            <a:ext cx="11545200" cy="162038"/>
          </a:xfrm>
          <a:prstGeom prst="rect">
            <a:avLst/>
          </a:prstGeom>
          <a:solidFill>
            <a:schemeClr val="accent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53" name="Google Shape;53;p16"/>
          <p:cNvPicPr preferRelativeResize="0"/>
          <p:nvPr/>
        </p:nvPicPr>
        <p:blipFill rotWithShape="1">
          <a:blip r:embed="rId2"/>
          <a:srcRect/>
          <a:stretch>
            <a:fillRect/>
          </a:stretch>
        </p:blipFill>
        <p:spPr>
          <a:xfrm>
            <a:off x="325438" y="6083725"/>
            <a:ext cx="916759" cy="4536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rriculum information">
  <p:cSld name="Curriculum information">
    <p:spTree>
      <p:nvGrpSpPr>
        <p:cNvPr id="1" name="Shape 54"/>
        <p:cNvGrpSpPr/>
        <p:nvPr/>
      </p:nvGrpSpPr>
      <p:grpSpPr>
        <a:xfrm>
          <a:off x="0" y="0"/>
          <a:ext cx="0" cy="0"/>
          <a:chOff x="0" y="0"/>
          <a:chExt cx="0" cy="0"/>
        </a:xfrm>
      </p:grpSpPr>
      <p:sp>
        <p:nvSpPr>
          <p:cNvPr id="55" name="Google Shape;55;p17"/>
          <p:cNvSpPr txBox="1"/>
          <p:nvPr/>
        </p:nvSpPr>
        <p:spPr>
          <a:xfrm>
            <a:off x="324000" y="324000"/>
            <a:ext cx="11545200" cy="75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accent2"/>
                </a:solidFill>
                <a:latin typeface="Arial" panose="020B0604020202020204"/>
                <a:ea typeface="Arial" panose="020B0604020202020204"/>
                <a:cs typeface="Arial" panose="020B0604020202020204"/>
                <a:sym typeface="Arial" panose="020B0604020202020204"/>
              </a:rPr>
              <a:t>Curriculum Information</a:t>
            </a:r>
            <a:endParaRPr sz="2400" b="1"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56" name="Google Shape;56;p17"/>
          <p:cNvSpPr txBox="1">
            <a:spLocks noGrp="1"/>
          </p:cNvSpPr>
          <p:nvPr>
            <p:ph type="body" idx="1"/>
          </p:nvPr>
        </p:nvSpPr>
        <p:spPr>
          <a:xfrm>
            <a:off x="2038856" y="2624439"/>
            <a:ext cx="9830344" cy="362391"/>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Clr>
                <a:srgbClr val="A5A5A5"/>
              </a:buClr>
              <a:buSzPts val="1800"/>
              <a:buFont typeface="Noto Sans Symbols"/>
              <a:buChar char="▪"/>
              <a:defRPr sz="1800" b="0">
                <a:solidFill>
                  <a:schemeClr val="dk1"/>
                </a:solidFill>
              </a:defRPr>
            </a:lvl1pPr>
            <a:lvl2pPr marL="914400" lvl="1" indent="-330200" algn="l">
              <a:lnSpc>
                <a:spcPct val="100000"/>
              </a:lnSpc>
              <a:spcBef>
                <a:spcPts val="0"/>
              </a:spcBef>
              <a:spcAft>
                <a:spcPts val="0"/>
              </a:spcAft>
              <a:buClr>
                <a:schemeClr val="dk2"/>
              </a:buClr>
              <a:buSzPts val="1600"/>
              <a:buFont typeface="Arial" panose="020B0604020202020204"/>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grpSp>
        <p:nvGrpSpPr>
          <p:cNvPr id="57" name="Google Shape;57;p17"/>
          <p:cNvGrpSpPr/>
          <p:nvPr/>
        </p:nvGrpSpPr>
        <p:grpSpPr>
          <a:xfrm>
            <a:off x="1951753" y="1927906"/>
            <a:ext cx="9917447" cy="500901"/>
            <a:chOff x="1108399" y="1396713"/>
            <a:chExt cx="7030682" cy="404566"/>
          </a:xfrm>
        </p:grpSpPr>
        <p:sp>
          <p:nvSpPr>
            <p:cNvPr id="58" name="Google Shape;58;p17"/>
            <p:cNvSpPr/>
            <p:nvPr/>
          </p:nvSpPr>
          <p:spPr>
            <a:xfrm>
              <a:off x="1108399" y="1396713"/>
              <a:ext cx="3835401" cy="298157"/>
            </a:xfrm>
            <a:prstGeom prst="rect">
              <a:avLst/>
            </a:prstGeom>
            <a:noFill/>
            <a:ln>
              <a:noFill/>
            </a:ln>
          </p:spPr>
          <p:txBody>
            <a:bodyPr spcFirstLastPara="1" wrap="square" lIns="91300" tIns="45625" rIns="91300" bIns="45625"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Curriculum Version</a:t>
              </a:r>
              <a:endParaRPr sz="12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59" name="Google Shape;59;p17"/>
            <p:cNvCxnSpPr/>
            <p:nvPr/>
          </p:nvCxnSpPr>
          <p:spPr>
            <a:xfrm rot="10800000" flipH="1">
              <a:off x="1197563" y="1776441"/>
              <a:ext cx="6941518" cy="24838"/>
            </a:xfrm>
            <a:prstGeom prst="straightConnector1">
              <a:avLst/>
            </a:prstGeom>
            <a:noFill/>
            <a:ln w="63500" cap="flat" cmpd="sng">
              <a:solidFill>
                <a:schemeClr val="accent1"/>
              </a:solidFill>
              <a:prstDash val="solid"/>
              <a:round/>
              <a:headEnd type="none" w="sm" len="sm"/>
              <a:tailEnd type="none" w="sm" len="sm"/>
            </a:ln>
          </p:spPr>
        </p:cxnSp>
      </p:grpSp>
      <p:grpSp>
        <p:nvGrpSpPr>
          <p:cNvPr id="60" name="Google Shape;60;p17"/>
          <p:cNvGrpSpPr/>
          <p:nvPr/>
        </p:nvGrpSpPr>
        <p:grpSpPr>
          <a:xfrm>
            <a:off x="324000" y="1499007"/>
            <a:ext cx="1299974" cy="1299976"/>
            <a:chOff x="352676" y="1326706"/>
            <a:chExt cx="765542" cy="765543"/>
          </a:xfrm>
        </p:grpSpPr>
        <p:sp>
          <p:nvSpPr>
            <p:cNvPr id="61" name="Google Shape;61;p17"/>
            <p:cNvSpPr/>
            <p:nvPr/>
          </p:nvSpPr>
          <p:spPr>
            <a:xfrm>
              <a:off x="352676" y="1326706"/>
              <a:ext cx="765542" cy="765543"/>
            </a:xfrm>
            <a:prstGeom prst="donut">
              <a:avLst>
                <a:gd name="adj" fmla="val 5979"/>
              </a:avLst>
            </a:prstGeom>
            <a:solidFill>
              <a:schemeClr val="accent1"/>
            </a:solidFill>
            <a:ln w="9525" cap="flat" cmpd="sng">
              <a:solidFill>
                <a:schemeClr val="accent1"/>
              </a:solidFill>
              <a:prstDash val="solid"/>
              <a:miter lim="800000"/>
              <a:headEnd type="none" w="sm" len="sm"/>
              <a:tailEnd type="none" w="sm" len="sm"/>
            </a:ln>
          </p:spPr>
          <p:txBody>
            <a:bodyPr spcFirstLastPara="1" wrap="square" lIns="89850" tIns="71900" rIns="89850" bIns="7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62" name="Google Shape;62;p17"/>
            <p:cNvGrpSpPr/>
            <p:nvPr/>
          </p:nvGrpSpPr>
          <p:grpSpPr>
            <a:xfrm>
              <a:off x="545702" y="1435466"/>
              <a:ext cx="403112" cy="511295"/>
              <a:chOff x="7057115" y="1361724"/>
              <a:chExt cx="403112" cy="511295"/>
            </a:xfrm>
          </p:grpSpPr>
          <p:sp>
            <p:nvSpPr>
              <p:cNvPr id="63" name="Google Shape;63;p17"/>
              <p:cNvSpPr/>
              <p:nvPr/>
            </p:nvSpPr>
            <p:spPr>
              <a:xfrm rot="10800000" flipH="1">
                <a:off x="7150511" y="1361724"/>
                <a:ext cx="309716" cy="420330"/>
              </a:xfrm>
              <a:prstGeom prst="foldedCorner">
                <a:avLst>
                  <a:gd name="adj" fmla="val 38333"/>
                </a:avLst>
              </a:prstGeom>
              <a:solidFill>
                <a:srgbClr val="595959"/>
              </a:solidFill>
              <a:ln w="9525" cap="flat" cmpd="sng">
                <a:solidFill>
                  <a:schemeClr val="lt1"/>
                </a:solidFill>
                <a:prstDash val="solid"/>
                <a:miter lim="800000"/>
                <a:headEnd type="none" w="sm" len="sm"/>
                <a:tailEnd type="none" w="sm" len="sm"/>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 name="Google Shape;64;p17"/>
              <p:cNvSpPr/>
              <p:nvPr/>
            </p:nvSpPr>
            <p:spPr>
              <a:xfrm rot="10800000" flipH="1">
                <a:off x="7103823" y="1410891"/>
                <a:ext cx="309716" cy="420330"/>
              </a:xfrm>
              <a:prstGeom prst="foldedCorner">
                <a:avLst>
                  <a:gd name="adj" fmla="val 38333"/>
                </a:avLst>
              </a:prstGeom>
              <a:solidFill>
                <a:srgbClr val="595959"/>
              </a:solidFill>
              <a:ln w="9525" cap="flat" cmpd="sng">
                <a:solidFill>
                  <a:schemeClr val="lt1"/>
                </a:solidFill>
                <a:prstDash val="solid"/>
                <a:miter lim="800000"/>
                <a:headEnd type="none" w="sm" len="sm"/>
                <a:tailEnd type="none" w="sm" len="sm"/>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65" name="Google Shape;65;p17"/>
              <p:cNvGrpSpPr/>
              <p:nvPr/>
            </p:nvGrpSpPr>
            <p:grpSpPr>
              <a:xfrm>
                <a:off x="7057115" y="1452689"/>
                <a:ext cx="309716" cy="420330"/>
                <a:chOff x="589936" y="2809567"/>
                <a:chExt cx="309716" cy="420330"/>
              </a:xfrm>
            </p:grpSpPr>
            <p:sp>
              <p:nvSpPr>
                <p:cNvPr id="66" name="Google Shape;66;p17"/>
                <p:cNvSpPr/>
                <p:nvPr/>
              </p:nvSpPr>
              <p:spPr>
                <a:xfrm rot="10800000" flipH="1">
                  <a:off x="589936" y="2809567"/>
                  <a:ext cx="309716" cy="420330"/>
                </a:xfrm>
                <a:prstGeom prst="foldedCorner">
                  <a:avLst>
                    <a:gd name="adj" fmla="val 38333"/>
                  </a:avLst>
                </a:prstGeom>
                <a:solidFill>
                  <a:srgbClr val="595959"/>
                </a:solidFill>
                <a:ln w="9525" cap="flat" cmpd="sng">
                  <a:solidFill>
                    <a:schemeClr val="lt1"/>
                  </a:solidFill>
                  <a:prstDash val="solid"/>
                  <a:miter lim="800000"/>
                  <a:headEnd type="none" w="sm" len="sm"/>
                  <a:tailEnd type="none" w="sm" len="sm"/>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7" name="Google Shape;67;p17"/>
                <p:cNvSpPr txBox="1"/>
                <p:nvPr/>
              </p:nvSpPr>
              <p:spPr>
                <a:xfrm>
                  <a:off x="697006" y="2861855"/>
                  <a:ext cx="94496" cy="3262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panose="020B0604020202020204"/>
                    <a:buNone/>
                  </a:pPr>
                  <a:r>
                    <a:rPr lang="en-US" sz="3600" b="0" i="1" u="none" strike="noStrike" cap="none">
                      <a:solidFill>
                        <a:schemeClr val="lt1"/>
                      </a:solidFill>
                      <a:latin typeface="Angsana New"/>
                      <a:ea typeface="Angsana New"/>
                      <a:cs typeface="Angsana New"/>
                      <a:sym typeface="Angsana New"/>
                    </a:rPr>
                    <a:t>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68" name="Google Shape;68;p17"/>
          <p:cNvSpPr txBox="1">
            <a:spLocks noGrp="1"/>
          </p:cNvSpPr>
          <p:nvPr>
            <p:ph type="body" idx="2"/>
          </p:nvPr>
        </p:nvSpPr>
        <p:spPr>
          <a:xfrm>
            <a:off x="2327108" y="3552319"/>
            <a:ext cx="9542092" cy="53099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Clr>
                <a:srgbClr val="A5A5A5"/>
              </a:buClr>
              <a:buSzPts val="1600"/>
              <a:buFont typeface="Arial" panose="020B0604020202020204"/>
              <a:buChar char="•"/>
              <a:defRPr sz="1600" b="0">
                <a:solidFill>
                  <a:schemeClr val="dk1"/>
                </a:solidFill>
              </a:defRPr>
            </a:lvl1pPr>
            <a:lvl2pPr marL="914400" lvl="1" indent="-330200" algn="l">
              <a:lnSpc>
                <a:spcPct val="100000"/>
              </a:lnSpc>
              <a:spcBef>
                <a:spcPts val="0"/>
              </a:spcBef>
              <a:spcAft>
                <a:spcPts val="0"/>
              </a:spcAft>
              <a:buClr>
                <a:schemeClr val="dk2"/>
              </a:buClr>
              <a:buSzPts val="1600"/>
              <a:buFont typeface="Arial" panose="020B0604020202020204"/>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69" name="Google Shape;69;p17"/>
          <p:cNvSpPr txBox="1"/>
          <p:nvPr/>
        </p:nvSpPr>
        <p:spPr>
          <a:xfrm>
            <a:off x="2041112" y="3250331"/>
            <a:ext cx="9828088" cy="336918"/>
          </a:xfrm>
          <a:prstGeom prst="rect">
            <a:avLst/>
          </a:prstGeom>
          <a:noFill/>
          <a:ln>
            <a:noFill/>
          </a:ln>
        </p:spPr>
        <p:txBody>
          <a:bodyPr spcFirstLastPara="1" wrap="square" lIns="0" tIns="0" rIns="0" bIns="0" anchor="t" anchorCtr="0">
            <a:noAutofit/>
          </a:bodyPr>
          <a:lstStyle/>
          <a:p>
            <a:pPr marL="265430" marR="0" lvl="0" indent="-194945" algn="l" rtl="0">
              <a:lnSpc>
                <a:spcPct val="100000"/>
              </a:lnSpc>
              <a:spcBef>
                <a:spcPts val="0"/>
              </a:spcBef>
              <a:spcAft>
                <a:spcPts val="0"/>
              </a:spcAft>
              <a:buClr>
                <a:srgbClr val="A5A5A5"/>
              </a:buClr>
              <a:buSzPts val="1800"/>
              <a:buFont typeface="Noto Sans Symbols"/>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Software used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 name="Google Shape;70;p17"/>
          <p:cNvSpPr txBox="1"/>
          <p:nvPr/>
        </p:nvSpPr>
        <p:spPr>
          <a:xfrm>
            <a:off x="2043658" y="4533142"/>
            <a:ext cx="9825542" cy="336918"/>
          </a:xfrm>
          <a:prstGeom prst="rect">
            <a:avLst/>
          </a:prstGeom>
          <a:noFill/>
          <a:ln>
            <a:noFill/>
          </a:ln>
        </p:spPr>
        <p:txBody>
          <a:bodyPr spcFirstLastPara="1" wrap="square" lIns="0" tIns="0" rIns="0" bIns="0" anchor="t" anchorCtr="0">
            <a:noAutofit/>
          </a:bodyPr>
          <a:lstStyle/>
          <a:p>
            <a:pPr marL="265430" marR="0" lvl="0" indent="-194945" algn="l" rtl="0">
              <a:lnSpc>
                <a:spcPct val="100000"/>
              </a:lnSpc>
              <a:spcBef>
                <a:spcPts val="0"/>
              </a:spcBef>
              <a:spcAft>
                <a:spcPts val="0"/>
              </a:spcAft>
              <a:buClr>
                <a:srgbClr val="A5A5A5"/>
              </a:buClr>
              <a:buSzPts val="1800"/>
              <a:buFont typeface="Noto Sans Symbols"/>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Prerequisites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 name="Google Shape;71;p17"/>
          <p:cNvSpPr txBox="1">
            <a:spLocks noGrp="1"/>
          </p:cNvSpPr>
          <p:nvPr>
            <p:ph type="body" idx="3"/>
          </p:nvPr>
        </p:nvSpPr>
        <p:spPr>
          <a:xfrm>
            <a:off x="2327107" y="4845892"/>
            <a:ext cx="9542093" cy="53099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Clr>
                <a:srgbClr val="A5A5A5"/>
              </a:buClr>
              <a:buSzPts val="1600"/>
              <a:buFont typeface="Arial" panose="020B0604020202020204"/>
              <a:buChar char="•"/>
              <a:defRPr sz="1600" b="0">
                <a:solidFill>
                  <a:schemeClr val="dk1"/>
                </a:solidFill>
              </a:defRPr>
            </a:lvl1pPr>
            <a:lvl2pPr marL="914400" lvl="1" indent="-330200" algn="l">
              <a:lnSpc>
                <a:spcPct val="100000"/>
              </a:lnSpc>
              <a:spcBef>
                <a:spcPts val="0"/>
              </a:spcBef>
              <a:spcAft>
                <a:spcPts val="0"/>
              </a:spcAft>
              <a:buClr>
                <a:schemeClr val="dk2"/>
              </a:buClr>
              <a:buSzPts val="1600"/>
              <a:buFont typeface="Arial" panose="020B0604020202020204"/>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odule information I">
  <p:cSld name="Module information I">
    <p:spTree>
      <p:nvGrpSpPr>
        <p:cNvPr id="1" name="Shape 72"/>
        <p:cNvGrpSpPr/>
        <p:nvPr/>
      </p:nvGrpSpPr>
      <p:grpSpPr>
        <a:xfrm>
          <a:off x="0" y="0"/>
          <a:ext cx="0" cy="0"/>
          <a:chOff x="0" y="0"/>
          <a:chExt cx="0" cy="0"/>
        </a:xfrm>
      </p:grpSpPr>
      <p:sp>
        <p:nvSpPr>
          <p:cNvPr id="73" name="Google Shape;73;p18"/>
          <p:cNvSpPr txBox="1"/>
          <p:nvPr/>
        </p:nvSpPr>
        <p:spPr>
          <a:xfrm>
            <a:off x="324000" y="324000"/>
            <a:ext cx="11545200" cy="75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accent2"/>
                </a:solidFill>
                <a:latin typeface="Arial" panose="020B0604020202020204"/>
                <a:ea typeface="Arial" panose="020B0604020202020204"/>
                <a:cs typeface="Arial" panose="020B0604020202020204"/>
                <a:sym typeface="Arial" panose="020B0604020202020204"/>
              </a:rPr>
              <a:t>Module Information</a:t>
            </a:r>
            <a:endParaRPr sz="2400" b="1"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74" name="Google Shape;74;p18"/>
          <p:cNvGrpSpPr/>
          <p:nvPr/>
        </p:nvGrpSpPr>
        <p:grpSpPr>
          <a:xfrm>
            <a:off x="324000" y="1499007"/>
            <a:ext cx="1299600" cy="1299600"/>
            <a:chOff x="214040" y="1152039"/>
            <a:chExt cx="765542" cy="765543"/>
          </a:xfrm>
        </p:grpSpPr>
        <p:grpSp>
          <p:nvGrpSpPr>
            <p:cNvPr id="75" name="Google Shape;75;p18"/>
            <p:cNvGrpSpPr/>
            <p:nvPr/>
          </p:nvGrpSpPr>
          <p:grpSpPr>
            <a:xfrm>
              <a:off x="361780" y="1354620"/>
              <a:ext cx="464585" cy="348150"/>
              <a:chOff x="1642324" y="4727322"/>
              <a:chExt cx="660742" cy="535592"/>
            </a:xfrm>
          </p:grpSpPr>
          <p:sp>
            <p:nvSpPr>
              <p:cNvPr id="76" name="Google Shape;76;p18"/>
              <p:cNvSpPr/>
              <p:nvPr/>
            </p:nvSpPr>
            <p:spPr>
              <a:xfrm rot="8100000">
                <a:off x="1767471" y="4884196"/>
                <a:ext cx="535598" cy="221844"/>
              </a:xfrm>
              <a:prstGeom prst="homePlate">
                <a:avLst>
                  <a:gd name="adj" fmla="val 50000"/>
                </a:avLst>
              </a:prstGeom>
              <a:solidFill>
                <a:srgbClr val="595959"/>
              </a:solidFill>
              <a:ln w="9525" cap="flat" cmpd="sng">
                <a:solidFill>
                  <a:srgbClr val="595959"/>
                </a:solidFill>
                <a:prstDash val="solid"/>
                <a:miter lim="800000"/>
                <a:headEnd type="none" w="sm" len="sm"/>
                <a:tailEnd type="none" w="sm" len="sm"/>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7" name="Google Shape;77;p18"/>
              <p:cNvSpPr/>
              <p:nvPr/>
            </p:nvSpPr>
            <p:spPr>
              <a:xfrm rot="8100000">
                <a:off x="1920613" y="4887121"/>
                <a:ext cx="305780" cy="129124"/>
              </a:xfrm>
              <a:prstGeom prst="rect">
                <a:avLst/>
              </a:prstGeom>
              <a:solidFill>
                <a:schemeClr val="lt1"/>
              </a:solidFill>
              <a:ln>
                <a:noFill/>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100"/>
                  <a:buFont typeface="Arial" panose="020B0604020202020204"/>
                  <a:buNone/>
                </a:pP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78" name="Google Shape;78;p18"/>
              <p:cNvCxnSpPr/>
              <p:nvPr/>
            </p:nvCxnSpPr>
            <p:spPr>
              <a:xfrm>
                <a:off x="1642324" y="5179188"/>
                <a:ext cx="140109" cy="0"/>
              </a:xfrm>
              <a:prstGeom prst="straightConnector1">
                <a:avLst/>
              </a:prstGeom>
              <a:noFill/>
              <a:ln w="25400" cap="flat" cmpd="sng">
                <a:solidFill>
                  <a:srgbClr val="595959"/>
                </a:solidFill>
                <a:prstDash val="solid"/>
                <a:round/>
                <a:headEnd type="none" w="sm" len="sm"/>
                <a:tailEnd type="none" w="sm" len="sm"/>
              </a:ln>
            </p:spPr>
          </p:cxnSp>
        </p:grpSp>
        <p:sp>
          <p:nvSpPr>
            <p:cNvPr id="79" name="Google Shape;79;p18"/>
            <p:cNvSpPr/>
            <p:nvPr/>
          </p:nvSpPr>
          <p:spPr>
            <a:xfrm>
              <a:off x="214040" y="1152039"/>
              <a:ext cx="765542" cy="765543"/>
            </a:xfrm>
            <a:prstGeom prst="donut">
              <a:avLst>
                <a:gd name="adj" fmla="val 5979"/>
              </a:avLst>
            </a:prstGeom>
            <a:solidFill>
              <a:schemeClr val="accent1"/>
            </a:solidFill>
            <a:ln w="9525" cap="flat" cmpd="sng">
              <a:solidFill>
                <a:schemeClr val="accent1"/>
              </a:solidFill>
              <a:prstDash val="solid"/>
              <a:miter lim="800000"/>
              <a:headEnd type="none" w="sm" len="sm"/>
              <a:tailEnd type="none" w="sm" len="sm"/>
            </a:ln>
          </p:spPr>
          <p:txBody>
            <a:bodyPr spcFirstLastPara="1" wrap="square" lIns="89850" tIns="71900" rIns="89850" bIns="7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0" name="Google Shape;80;p18"/>
          <p:cNvGrpSpPr/>
          <p:nvPr/>
        </p:nvGrpSpPr>
        <p:grpSpPr>
          <a:xfrm>
            <a:off x="324000" y="3809388"/>
            <a:ext cx="1299600" cy="1299600"/>
            <a:chOff x="216000" y="2969382"/>
            <a:chExt cx="765542" cy="765543"/>
          </a:xfrm>
        </p:grpSpPr>
        <p:pic>
          <p:nvPicPr>
            <p:cNvPr id="81" name="Google Shape;81;p18"/>
            <p:cNvPicPr preferRelativeResize="0"/>
            <p:nvPr/>
          </p:nvPicPr>
          <p:blipFill rotWithShape="1">
            <a:blip r:embed="rId2"/>
            <a:srcRect/>
            <a:stretch>
              <a:fillRect/>
            </a:stretch>
          </p:blipFill>
          <p:spPr>
            <a:xfrm>
              <a:off x="423714" y="3133080"/>
              <a:ext cx="361950" cy="438149"/>
            </a:xfrm>
            <a:prstGeom prst="rect">
              <a:avLst/>
            </a:prstGeom>
            <a:noFill/>
            <a:ln>
              <a:noFill/>
            </a:ln>
          </p:spPr>
        </p:pic>
        <p:sp>
          <p:nvSpPr>
            <p:cNvPr id="82" name="Google Shape;82;p18"/>
            <p:cNvSpPr/>
            <p:nvPr/>
          </p:nvSpPr>
          <p:spPr>
            <a:xfrm>
              <a:off x="216000" y="2969382"/>
              <a:ext cx="765542" cy="765543"/>
            </a:xfrm>
            <a:prstGeom prst="donut">
              <a:avLst>
                <a:gd name="adj" fmla="val 5979"/>
              </a:avLst>
            </a:prstGeom>
            <a:solidFill>
              <a:schemeClr val="accent1"/>
            </a:solidFill>
            <a:ln w="9525" cap="flat" cmpd="sng">
              <a:solidFill>
                <a:schemeClr val="accent1"/>
              </a:solidFill>
              <a:prstDash val="solid"/>
              <a:miter lim="800000"/>
              <a:headEnd type="none" w="sm" len="sm"/>
              <a:tailEnd type="none" w="sm" len="sm"/>
            </a:ln>
          </p:spPr>
          <p:txBody>
            <a:bodyPr spcFirstLastPara="1" wrap="square" lIns="89850" tIns="71900" rIns="89850" bIns="7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3" name="Google Shape;83;p18"/>
          <p:cNvGrpSpPr/>
          <p:nvPr/>
        </p:nvGrpSpPr>
        <p:grpSpPr>
          <a:xfrm>
            <a:off x="1951753" y="1927906"/>
            <a:ext cx="9917447" cy="500901"/>
            <a:chOff x="1108399" y="1396713"/>
            <a:chExt cx="7030682" cy="404566"/>
          </a:xfrm>
        </p:grpSpPr>
        <p:sp>
          <p:nvSpPr>
            <p:cNvPr id="84" name="Google Shape;84;p18"/>
            <p:cNvSpPr/>
            <p:nvPr/>
          </p:nvSpPr>
          <p:spPr>
            <a:xfrm>
              <a:off x="1108399" y="1396713"/>
              <a:ext cx="3835401" cy="298157"/>
            </a:xfrm>
            <a:prstGeom prst="rect">
              <a:avLst/>
            </a:prstGeom>
            <a:noFill/>
            <a:ln>
              <a:noFill/>
            </a:ln>
          </p:spPr>
          <p:txBody>
            <a:bodyPr spcFirstLastPara="1" wrap="square" lIns="91300" tIns="45625" rIns="91300" bIns="45625"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Authors</a:t>
              </a:r>
              <a:endParaRPr sz="12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85" name="Google Shape;85;p18"/>
            <p:cNvCxnSpPr/>
            <p:nvPr/>
          </p:nvCxnSpPr>
          <p:spPr>
            <a:xfrm rot="10800000" flipH="1">
              <a:off x="1197563" y="1776441"/>
              <a:ext cx="6941518" cy="24838"/>
            </a:xfrm>
            <a:prstGeom prst="straightConnector1">
              <a:avLst/>
            </a:prstGeom>
            <a:noFill/>
            <a:ln w="63500" cap="flat" cmpd="sng">
              <a:solidFill>
                <a:schemeClr val="accent1"/>
              </a:solidFill>
              <a:prstDash val="solid"/>
              <a:round/>
              <a:headEnd type="none" w="sm" len="sm"/>
              <a:tailEnd type="none" w="sm" len="sm"/>
            </a:ln>
          </p:spPr>
        </p:cxnSp>
      </p:grpSp>
      <p:sp>
        <p:nvSpPr>
          <p:cNvPr id="86" name="Google Shape;86;p18"/>
          <p:cNvSpPr txBox="1">
            <a:spLocks noGrp="1"/>
          </p:cNvSpPr>
          <p:nvPr>
            <p:ph type="body" idx="1"/>
          </p:nvPr>
        </p:nvSpPr>
        <p:spPr>
          <a:xfrm>
            <a:off x="2038856" y="2624439"/>
            <a:ext cx="9830344" cy="1319928"/>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Clr>
                <a:srgbClr val="BFBFBF"/>
              </a:buClr>
              <a:buSzPts val="1800"/>
              <a:buFont typeface="Noto Sans Symbols"/>
              <a:buChar char="▪"/>
              <a:defRPr sz="1800" b="0">
                <a:solidFill>
                  <a:schemeClr val="dk1"/>
                </a:solidFill>
              </a:defRPr>
            </a:lvl1pPr>
            <a:lvl2pPr marL="914400" lvl="1" indent="-330200" algn="l">
              <a:lnSpc>
                <a:spcPct val="100000"/>
              </a:lnSpc>
              <a:spcBef>
                <a:spcPts val="0"/>
              </a:spcBef>
              <a:spcAft>
                <a:spcPts val="0"/>
              </a:spcAft>
              <a:buClr>
                <a:schemeClr val="dk2"/>
              </a:buClr>
              <a:buSzPts val="1600"/>
              <a:buFont typeface="Arial" panose="020B0604020202020204"/>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grpSp>
        <p:nvGrpSpPr>
          <p:cNvPr id="87" name="Google Shape;87;p18"/>
          <p:cNvGrpSpPr/>
          <p:nvPr/>
        </p:nvGrpSpPr>
        <p:grpSpPr>
          <a:xfrm>
            <a:off x="1957853" y="4230977"/>
            <a:ext cx="9911347" cy="500901"/>
            <a:chOff x="1108399" y="1396713"/>
            <a:chExt cx="7030682" cy="404566"/>
          </a:xfrm>
        </p:grpSpPr>
        <p:sp>
          <p:nvSpPr>
            <p:cNvPr id="88" name="Google Shape;88;p18"/>
            <p:cNvSpPr/>
            <p:nvPr/>
          </p:nvSpPr>
          <p:spPr>
            <a:xfrm>
              <a:off x="1108399" y="1396713"/>
              <a:ext cx="3835401" cy="298157"/>
            </a:xfrm>
            <a:prstGeom prst="rect">
              <a:avLst/>
            </a:prstGeom>
            <a:noFill/>
            <a:ln>
              <a:noFill/>
            </a:ln>
          </p:spPr>
          <p:txBody>
            <a:bodyPr spcFirstLastPara="1" wrap="square" lIns="91300" tIns="45625" rIns="91300" bIns="45625"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Target Audience</a:t>
              </a:r>
              <a:endParaRPr sz="12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89" name="Google Shape;89;p18"/>
            <p:cNvCxnSpPr/>
            <p:nvPr/>
          </p:nvCxnSpPr>
          <p:spPr>
            <a:xfrm rot="10800000" flipH="1">
              <a:off x="1197563" y="1776441"/>
              <a:ext cx="6941518" cy="24838"/>
            </a:xfrm>
            <a:prstGeom prst="straightConnector1">
              <a:avLst/>
            </a:prstGeom>
            <a:noFill/>
            <a:ln w="63500" cap="flat" cmpd="sng">
              <a:solidFill>
                <a:schemeClr val="accent1"/>
              </a:solidFill>
              <a:prstDash val="solid"/>
              <a:round/>
              <a:headEnd type="none" w="sm" len="sm"/>
              <a:tailEnd type="none" w="sm" len="sm"/>
            </a:ln>
          </p:spPr>
        </p:cxnSp>
      </p:grpSp>
      <p:sp>
        <p:nvSpPr>
          <p:cNvPr id="90" name="Google Shape;90;p18"/>
          <p:cNvSpPr txBox="1">
            <a:spLocks noGrp="1"/>
          </p:cNvSpPr>
          <p:nvPr>
            <p:ph type="body" idx="2"/>
          </p:nvPr>
        </p:nvSpPr>
        <p:spPr>
          <a:xfrm>
            <a:off x="2044953" y="4927509"/>
            <a:ext cx="9824247" cy="1319928"/>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Clr>
                <a:srgbClr val="BFBFBF"/>
              </a:buClr>
              <a:buSzPts val="1800"/>
              <a:buFont typeface="Noto Sans Symbols"/>
              <a:buChar char="▪"/>
              <a:defRPr sz="1800" b="0">
                <a:solidFill>
                  <a:schemeClr val="dk1"/>
                </a:solidFill>
              </a:defRPr>
            </a:lvl1pPr>
            <a:lvl2pPr marL="914400" lvl="1" indent="-330200" algn="l">
              <a:lnSpc>
                <a:spcPct val="100000"/>
              </a:lnSpc>
              <a:spcBef>
                <a:spcPts val="0"/>
              </a:spcBef>
              <a:spcAft>
                <a:spcPts val="0"/>
              </a:spcAft>
              <a:buClr>
                <a:schemeClr val="dk2"/>
              </a:buClr>
              <a:buSzPts val="1600"/>
              <a:buFont typeface="Arial" panose="020B0604020202020204"/>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odule information II">
  <p:cSld name="Module information II">
    <p:spTree>
      <p:nvGrpSpPr>
        <p:cNvPr id="1" name="Shape 91"/>
        <p:cNvGrpSpPr/>
        <p:nvPr/>
      </p:nvGrpSpPr>
      <p:grpSpPr>
        <a:xfrm>
          <a:off x="0" y="0"/>
          <a:ext cx="0" cy="0"/>
          <a:chOff x="0" y="0"/>
          <a:chExt cx="0" cy="0"/>
        </a:xfrm>
      </p:grpSpPr>
      <p:sp>
        <p:nvSpPr>
          <p:cNvPr id="92" name="Google Shape;92;p19"/>
          <p:cNvSpPr txBox="1"/>
          <p:nvPr/>
        </p:nvSpPr>
        <p:spPr>
          <a:xfrm>
            <a:off x="324000" y="324000"/>
            <a:ext cx="11545200" cy="75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accent2"/>
                </a:solidFill>
                <a:latin typeface="Arial" panose="020B0604020202020204"/>
                <a:ea typeface="Arial" panose="020B0604020202020204"/>
                <a:cs typeface="Arial" panose="020B0604020202020204"/>
                <a:sym typeface="Arial" panose="020B0604020202020204"/>
              </a:rPr>
              <a:t>Module Information</a:t>
            </a:r>
            <a:endParaRPr sz="2400" b="1"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93" name="Google Shape;93;p19"/>
          <p:cNvGrpSpPr/>
          <p:nvPr/>
        </p:nvGrpSpPr>
        <p:grpSpPr>
          <a:xfrm>
            <a:off x="324000" y="1503256"/>
            <a:ext cx="1299600" cy="1299600"/>
            <a:chOff x="214040" y="1152039"/>
            <a:chExt cx="765542" cy="765543"/>
          </a:xfrm>
        </p:grpSpPr>
        <p:sp>
          <p:nvSpPr>
            <p:cNvPr id="94" name="Google Shape;94;p19"/>
            <p:cNvSpPr/>
            <p:nvPr/>
          </p:nvSpPr>
          <p:spPr>
            <a:xfrm>
              <a:off x="214040" y="1152039"/>
              <a:ext cx="765542" cy="765543"/>
            </a:xfrm>
            <a:prstGeom prst="donut">
              <a:avLst>
                <a:gd name="adj" fmla="val 5979"/>
              </a:avLst>
            </a:prstGeom>
            <a:solidFill>
              <a:schemeClr val="accent1"/>
            </a:solidFill>
            <a:ln w="9525" cap="flat" cmpd="sng">
              <a:solidFill>
                <a:schemeClr val="accent1"/>
              </a:solidFill>
              <a:prstDash val="solid"/>
              <a:miter lim="800000"/>
              <a:headEnd type="none" w="sm" len="sm"/>
              <a:tailEnd type="none" w="sm" len="sm"/>
            </a:ln>
          </p:spPr>
          <p:txBody>
            <a:bodyPr spcFirstLastPara="1" wrap="square" lIns="89850" tIns="71900" rIns="89850" bIns="7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95" name="Google Shape;95;p19"/>
            <p:cNvPicPr preferRelativeResize="0"/>
            <p:nvPr/>
          </p:nvPicPr>
          <p:blipFill rotWithShape="1">
            <a:blip r:embed="rId2"/>
            <a:srcRect/>
            <a:stretch>
              <a:fillRect/>
            </a:stretch>
          </p:blipFill>
          <p:spPr>
            <a:xfrm>
              <a:off x="433487" y="1313261"/>
              <a:ext cx="352425" cy="381000"/>
            </a:xfrm>
            <a:prstGeom prst="rect">
              <a:avLst/>
            </a:prstGeom>
            <a:noFill/>
            <a:ln>
              <a:noFill/>
            </a:ln>
          </p:spPr>
        </p:pic>
      </p:grpSp>
      <p:grpSp>
        <p:nvGrpSpPr>
          <p:cNvPr id="96" name="Google Shape;96;p19"/>
          <p:cNvGrpSpPr/>
          <p:nvPr/>
        </p:nvGrpSpPr>
        <p:grpSpPr>
          <a:xfrm>
            <a:off x="1951753" y="1927906"/>
            <a:ext cx="9917447" cy="500901"/>
            <a:chOff x="1108399" y="1396713"/>
            <a:chExt cx="7030682" cy="404566"/>
          </a:xfrm>
        </p:grpSpPr>
        <p:sp>
          <p:nvSpPr>
            <p:cNvPr id="97" name="Google Shape;97;p19"/>
            <p:cNvSpPr/>
            <p:nvPr/>
          </p:nvSpPr>
          <p:spPr>
            <a:xfrm>
              <a:off x="1108399" y="1396713"/>
              <a:ext cx="3835401" cy="298154"/>
            </a:xfrm>
            <a:prstGeom prst="rect">
              <a:avLst/>
            </a:prstGeom>
            <a:noFill/>
            <a:ln>
              <a:noFill/>
            </a:ln>
          </p:spPr>
          <p:txBody>
            <a:bodyPr spcFirstLastPara="1" wrap="square" lIns="91300" tIns="45625" rIns="91300" bIns="45625"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Learning Objectives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98" name="Google Shape;98;p19"/>
            <p:cNvCxnSpPr/>
            <p:nvPr/>
          </p:nvCxnSpPr>
          <p:spPr>
            <a:xfrm rot="10800000" flipH="1">
              <a:off x="1197563" y="1776441"/>
              <a:ext cx="6941518" cy="24838"/>
            </a:xfrm>
            <a:prstGeom prst="straightConnector1">
              <a:avLst/>
            </a:prstGeom>
            <a:noFill/>
            <a:ln w="63500" cap="flat" cmpd="sng">
              <a:solidFill>
                <a:schemeClr val="accent1"/>
              </a:solidFill>
              <a:prstDash val="solid"/>
              <a:round/>
              <a:headEnd type="none" w="sm" len="sm"/>
              <a:tailEnd type="none" w="sm" len="sm"/>
            </a:ln>
          </p:spPr>
        </p:cxnSp>
      </p:grpSp>
      <p:sp>
        <p:nvSpPr>
          <p:cNvPr id="99" name="Google Shape;99;p19"/>
          <p:cNvSpPr txBox="1">
            <a:spLocks noGrp="1"/>
          </p:cNvSpPr>
          <p:nvPr>
            <p:ph type="body" idx="1"/>
          </p:nvPr>
        </p:nvSpPr>
        <p:spPr>
          <a:xfrm>
            <a:off x="2038856" y="2624439"/>
            <a:ext cx="9830344" cy="1319928"/>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Clr>
                <a:srgbClr val="BFBFBF"/>
              </a:buClr>
              <a:buSzPts val="1800"/>
              <a:buFont typeface="Noto Sans Symbols"/>
              <a:buChar char="▪"/>
              <a:defRPr sz="1800" b="0">
                <a:solidFill>
                  <a:schemeClr val="dk1"/>
                </a:solidFill>
              </a:defRPr>
            </a:lvl1pPr>
            <a:lvl2pPr marL="914400" lvl="1" indent="-330200" algn="l">
              <a:lnSpc>
                <a:spcPct val="100000"/>
              </a:lnSpc>
              <a:spcBef>
                <a:spcPts val="0"/>
              </a:spcBef>
              <a:spcAft>
                <a:spcPts val="0"/>
              </a:spcAft>
              <a:buClr>
                <a:schemeClr val="dk2"/>
              </a:buClr>
              <a:buSzPts val="1600"/>
              <a:buFont typeface="Arial" panose="020B0604020202020204"/>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2800"/>
              <a:buFont typeface="Arial" panose="020B060402020202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0"/>
          <p:cNvSpPr txBox="1">
            <a:spLocks noGrp="1"/>
          </p:cNvSpPr>
          <p:nvPr>
            <p:ph type="body" idx="1"/>
          </p:nvPr>
        </p:nvSpPr>
        <p:spPr>
          <a:xfrm>
            <a:off x="324000" y="1691079"/>
            <a:ext cx="115452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columns">
  <p:cSld name="Title and Text: 2 columns">
    <p:spTree>
      <p:nvGrpSpPr>
        <p:cNvPr id="1" name="Shape 103"/>
        <p:cNvGrpSpPr/>
        <p:nvPr/>
      </p:nvGrpSpPr>
      <p:grpSpPr>
        <a:xfrm>
          <a:off x="0" y="0"/>
          <a:ext cx="0" cy="0"/>
          <a:chOff x="0" y="0"/>
          <a:chExt cx="0" cy="0"/>
        </a:xfrm>
      </p:grpSpPr>
      <p:sp>
        <p:nvSpPr>
          <p:cNvPr id="104" name="Google Shape;104;p21"/>
          <p:cNvSpPr txBox="1">
            <a:spLocks noGrp="1"/>
          </p:cNvSpPr>
          <p:nvPr>
            <p:ph type="body" idx="1"/>
          </p:nvPr>
        </p:nvSpPr>
        <p:spPr>
          <a:xfrm>
            <a:off x="6208016" y="1691079"/>
            <a:ext cx="5661184"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05" name="Google Shape;105;p21"/>
          <p:cNvSpPr txBox="1">
            <a:spLocks noGrp="1"/>
          </p:cNvSpPr>
          <p:nvPr>
            <p:ph type="body" idx="2"/>
          </p:nvPr>
        </p:nvSpPr>
        <p:spPr>
          <a:xfrm>
            <a:off x="324000" y="1691079"/>
            <a:ext cx="56628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06" name="Google Shape;106;p21"/>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3 columns">
  <p:cSld name="Title and Text: 3 columns">
    <p:spTree>
      <p:nvGrpSpPr>
        <p:cNvPr id="1" name="Shape 107"/>
        <p:cNvGrpSpPr/>
        <p:nvPr/>
      </p:nvGrpSpPr>
      <p:grpSpPr>
        <a:xfrm>
          <a:off x="0" y="0"/>
          <a:ext cx="0" cy="0"/>
          <a:chOff x="0" y="0"/>
          <a:chExt cx="0" cy="0"/>
        </a:xfrm>
      </p:grpSpPr>
      <p:sp>
        <p:nvSpPr>
          <p:cNvPr id="108" name="Google Shape;108;p22"/>
          <p:cNvSpPr txBox="1">
            <a:spLocks noGrp="1"/>
          </p:cNvSpPr>
          <p:nvPr>
            <p:ph type="body" idx="1"/>
          </p:nvPr>
        </p:nvSpPr>
        <p:spPr>
          <a:xfrm>
            <a:off x="8133316" y="1691079"/>
            <a:ext cx="3735883"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09" name="Google Shape;109;p22"/>
          <p:cNvSpPr txBox="1">
            <a:spLocks noGrp="1"/>
          </p:cNvSpPr>
          <p:nvPr>
            <p:ph type="body" idx="2"/>
          </p:nvPr>
        </p:nvSpPr>
        <p:spPr>
          <a:xfrm>
            <a:off x="4228658" y="1691079"/>
            <a:ext cx="37404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10" name="Google Shape;110;p22"/>
          <p:cNvSpPr txBox="1">
            <a:spLocks noGrp="1"/>
          </p:cNvSpPr>
          <p:nvPr>
            <p:ph type="body" idx="3"/>
          </p:nvPr>
        </p:nvSpPr>
        <p:spPr>
          <a:xfrm>
            <a:off x="324000" y="1691079"/>
            <a:ext cx="3740399"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11" name="Google Shape;111;p22"/>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with picture right 1">
  <p:cSld name="Title and Text with picture right 1">
    <p:spTree>
      <p:nvGrpSpPr>
        <p:cNvPr id="1" name="Shape 112"/>
        <p:cNvGrpSpPr/>
        <p:nvPr/>
      </p:nvGrpSpPr>
      <p:grpSpPr>
        <a:xfrm>
          <a:off x="0" y="0"/>
          <a:ext cx="0" cy="0"/>
          <a:chOff x="0" y="0"/>
          <a:chExt cx="0" cy="0"/>
        </a:xfrm>
      </p:grpSpPr>
      <p:sp>
        <p:nvSpPr>
          <p:cNvPr id="113" name="Google Shape;113;p23"/>
          <p:cNvSpPr txBox="1">
            <a:spLocks noGrp="1"/>
          </p:cNvSpPr>
          <p:nvPr>
            <p:ph type="body" idx="1"/>
          </p:nvPr>
        </p:nvSpPr>
        <p:spPr>
          <a:xfrm>
            <a:off x="324000" y="1691079"/>
            <a:ext cx="714995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14" name="Google Shape;114;p23"/>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2800"/>
              <a:buFont typeface="Arial" panose="020B060402020202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3"/>
          <p:cNvSpPr>
            <a:spLocks noGrp="1"/>
          </p:cNvSpPr>
          <p:nvPr>
            <p:ph type="pic" idx="2"/>
          </p:nvPr>
        </p:nvSpPr>
        <p:spPr>
          <a:xfrm>
            <a:off x="7639050" y="1691079"/>
            <a:ext cx="4232275" cy="4392042"/>
          </a:xfrm>
          <a:prstGeom prst="rect">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with picture right 2">
  <p:cSld name="Title and Text with picture right 2">
    <p:spTree>
      <p:nvGrpSpPr>
        <p:cNvPr id="1" name="Shape 116"/>
        <p:cNvGrpSpPr/>
        <p:nvPr/>
      </p:nvGrpSpPr>
      <p:grpSpPr>
        <a:xfrm>
          <a:off x="0" y="0"/>
          <a:ext cx="0" cy="0"/>
          <a:chOff x="0" y="0"/>
          <a:chExt cx="0" cy="0"/>
        </a:xfrm>
      </p:grpSpPr>
      <p:sp>
        <p:nvSpPr>
          <p:cNvPr id="117" name="Google Shape;117;p24"/>
          <p:cNvSpPr txBox="1">
            <a:spLocks noGrp="1"/>
          </p:cNvSpPr>
          <p:nvPr>
            <p:ph type="body" idx="1"/>
          </p:nvPr>
        </p:nvSpPr>
        <p:spPr>
          <a:xfrm>
            <a:off x="324000" y="1691079"/>
            <a:ext cx="56628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18" name="Google Shape;118;p24"/>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2800"/>
              <a:buFont typeface="Arial" panose="020B060402020202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4"/>
          <p:cNvSpPr>
            <a:spLocks noGrp="1"/>
          </p:cNvSpPr>
          <p:nvPr>
            <p:ph type="pic" idx="2"/>
          </p:nvPr>
        </p:nvSpPr>
        <p:spPr>
          <a:xfrm>
            <a:off x="6208016" y="1692392"/>
            <a:ext cx="5662800" cy="4393017"/>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with picture right 3">
  <p:cSld name="Title and Text with picture right 3">
    <p:spTree>
      <p:nvGrpSpPr>
        <p:cNvPr id="1" name="Shape 120"/>
        <p:cNvGrpSpPr/>
        <p:nvPr/>
      </p:nvGrpSpPr>
      <p:grpSpPr>
        <a:xfrm>
          <a:off x="0" y="0"/>
          <a:ext cx="0" cy="0"/>
          <a:chOff x="0" y="0"/>
          <a:chExt cx="0" cy="0"/>
        </a:xfrm>
      </p:grpSpPr>
      <p:sp>
        <p:nvSpPr>
          <p:cNvPr id="121" name="Google Shape;121;p25"/>
          <p:cNvSpPr txBox="1">
            <a:spLocks noGrp="1"/>
          </p:cNvSpPr>
          <p:nvPr>
            <p:ph type="body" idx="1"/>
          </p:nvPr>
        </p:nvSpPr>
        <p:spPr>
          <a:xfrm>
            <a:off x="324000" y="1691079"/>
            <a:ext cx="4224188"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22" name="Google Shape;122;p25"/>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2800"/>
              <a:buFont typeface="Arial" panose="020B060402020202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5"/>
          <p:cNvSpPr>
            <a:spLocks noGrp="1"/>
          </p:cNvSpPr>
          <p:nvPr>
            <p:ph type="pic" idx="2"/>
          </p:nvPr>
        </p:nvSpPr>
        <p:spPr>
          <a:xfrm>
            <a:off x="4706938" y="1692392"/>
            <a:ext cx="7164387" cy="4393017"/>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with picture: 2 columns">
  <p:cSld name="Title and Text with picture: 2 columns">
    <p:spTree>
      <p:nvGrpSpPr>
        <p:cNvPr id="1" name="Shape 124"/>
        <p:cNvGrpSpPr/>
        <p:nvPr/>
      </p:nvGrpSpPr>
      <p:grpSpPr>
        <a:xfrm>
          <a:off x="0" y="0"/>
          <a:ext cx="0" cy="0"/>
          <a:chOff x="0" y="0"/>
          <a:chExt cx="0" cy="0"/>
        </a:xfrm>
      </p:grpSpPr>
      <p:sp>
        <p:nvSpPr>
          <p:cNvPr id="125" name="Google Shape;125;p26"/>
          <p:cNvSpPr txBox="1">
            <a:spLocks noGrp="1"/>
          </p:cNvSpPr>
          <p:nvPr>
            <p:ph type="body" idx="1"/>
          </p:nvPr>
        </p:nvSpPr>
        <p:spPr>
          <a:xfrm>
            <a:off x="6208016" y="1691079"/>
            <a:ext cx="5661184" cy="1721199"/>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26" name="Google Shape;126;p26"/>
          <p:cNvSpPr txBox="1">
            <a:spLocks noGrp="1"/>
          </p:cNvSpPr>
          <p:nvPr>
            <p:ph type="body" idx="2"/>
          </p:nvPr>
        </p:nvSpPr>
        <p:spPr>
          <a:xfrm>
            <a:off x="324000" y="1691079"/>
            <a:ext cx="5662800" cy="1721199"/>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27" name="Google Shape;127;p26"/>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6"/>
          <p:cNvSpPr>
            <a:spLocks noGrp="1"/>
          </p:cNvSpPr>
          <p:nvPr>
            <p:ph type="pic" idx="3"/>
          </p:nvPr>
        </p:nvSpPr>
        <p:spPr>
          <a:xfrm>
            <a:off x="324000" y="3574318"/>
            <a:ext cx="5662800" cy="2508804"/>
          </a:xfrm>
          <a:prstGeom prst="rect">
            <a:avLst/>
          </a:prstGeom>
          <a:solidFill>
            <a:srgbClr val="F2F2F2"/>
          </a:solidFill>
          <a:ln>
            <a:noFill/>
          </a:ln>
        </p:spPr>
      </p:sp>
      <p:sp>
        <p:nvSpPr>
          <p:cNvPr id="129" name="Google Shape;129;p26"/>
          <p:cNvSpPr>
            <a:spLocks noGrp="1"/>
          </p:cNvSpPr>
          <p:nvPr>
            <p:ph type="pic" idx="4"/>
          </p:nvPr>
        </p:nvSpPr>
        <p:spPr>
          <a:xfrm>
            <a:off x="6208016" y="3574318"/>
            <a:ext cx="5662800" cy="2508804"/>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uthors">
  <p:cSld name="Authors">
    <p:spTree>
      <p:nvGrpSpPr>
        <p:cNvPr id="1" name="Shape 130"/>
        <p:cNvGrpSpPr/>
        <p:nvPr/>
      </p:nvGrpSpPr>
      <p:grpSpPr>
        <a:xfrm>
          <a:off x="0" y="0"/>
          <a:ext cx="0" cy="0"/>
          <a:chOff x="0" y="0"/>
          <a:chExt cx="0" cy="0"/>
        </a:xfrm>
      </p:grpSpPr>
      <p:sp>
        <p:nvSpPr>
          <p:cNvPr id="131" name="Google Shape;131;p27"/>
          <p:cNvSpPr txBox="1">
            <a:spLocks noGrp="1"/>
          </p:cNvSpPr>
          <p:nvPr>
            <p:ph type="body" idx="1"/>
          </p:nvPr>
        </p:nvSpPr>
        <p:spPr>
          <a:xfrm>
            <a:off x="324000" y="1691079"/>
            <a:ext cx="11545200" cy="4392042"/>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32" name="Google Shape;132;p27"/>
          <p:cNvSpPr txBox="1"/>
          <p:nvPr/>
        </p:nvSpPr>
        <p:spPr>
          <a:xfrm>
            <a:off x="324000" y="324000"/>
            <a:ext cx="11545200" cy="75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accent2"/>
                </a:solidFill>
                <a:latin typeface="Arial" panose="020B0604020202020204"/>
                <a:ea typeface="Arial" panose="020B0604020202020204"/>
                <a:cs typeface="Arial" panose="020B0604020202020204"/>
                <a:sym typeface="Arial" panose="020B0604020202020204"/>
              </a:rPr>
              <a:t>Authors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ources">
  <p:cSld name="Sources">
    <p:spTree>
      <p:nvGrpSpPr>
        <p:cNvPr id="1" name="Shape 133"/>
        <p:cNvGrpSpPr/>
        <p:nvPr/>
      </p:nvGrpSpPr>
      <p:grpSpPr>
        <a:xfrm>
          <a:off x="0" y="0"/>
          <a:ext cx="0" cy="0"/>
          <a:chOff x="0" y="0"/>
          <a:chExt cx="0" cy="0"/>
        </a:xfrm>
      </p:grpSpPr>
      <p:sp>
        <p:nvSpPr>
          <p:cNvPr id="134" name="Google Shape;134;p28"/>
          <p:cNvSpPr txBox="1">
            <a:spLocks noGrp="1"/>
          </p:cNvSpPr>
          <p:nvPr>
            <p:ph type="body" idx="1"/>
          </p:nvPr>
        </p:nvSpPr>
        <p:spPr>
          <a:xfrm>
            <a:off x="324000" y="1691079"/>
            <a:ext cx="11545200" cy="4392042"/>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0"/>
              </a:spcBef>
              <a:spcAft>
                <a:spcPts val="0"/>
              </a:spcAft>
              <a:buClr>
                <a:srgbClr val="A5A5A5"/>
              </a:buClr>
              <a:buSzPts val="1600"/>
              <a:buChar char="▪"/>
              <a:defRPr sz="1600">
                <a:solidFill>
                  <a:srgbClr val="A5A5A5"/>
                </a:solidFill>
              </a:defRPr>
            </a:lvl1pPr>
            <a:lvl2pPr marL="914400" lvl="1" indent="-342900" algn="l">
              <a:lnSpc>
                <a:spcPct val="100000"/>
              </a:lnSpc>
              <a:spcBef>
                <a:spcPts val="340"/>
              </a:spcBef>
              <a:spcAft>
                <a:spcPts val="0"/>
              </a:spcAft>
              <a:buSzPts val="1800"/>
              <a:buChar char="•"/>
              <a:defRPr/>
            </a:lvl2pPr>
            <a:lvl3pPr marL="1371600" lvl="2" indent="-314325" algn="l">
              <a:lnSpc>
                <a:spcPct val="100000"/>
              </a:lnSpc>
              <a:spcBef>
                <a:spcPts val="225"/>
              </a:spcBef>
              <a:spcAft>
                <a:spcPts val="0"/>
              </a:spcAft>
              <a:buSzPts val="1350"/>
              <a:buChar char="−"/>
              <a:defRPr/>
            </a:lvl3pPr>
            <a:lvl4pPr marL="1828800" lvl="3" indent="-314325" algn="l">
              <a:lnSpc>
                <a:spcPct val="100000"/>
              </a:lnSpc>
              <a:spcBef>
                <a:spcPts val="140"/>
              </a:spcBef>
              <a:spcAft>
                <a:spcPts val="0"/>
              </a:spcAft>
              <a:buSzPts val="1350"/>
              <a:buChar char="o"/>
              <a:defRPr/>
            </a:lvl4pPr>
            <a:lvl5pPr marL="2286000" lvl="4" indent="-342900" algn="l">
              <a:lnSpc>
                <a:spcPct val="100000"/>
              </a:lnSpc>
              <a:spcBef>
                <a:spcPts val="250"/>
              </a:spcBef>
              <a:spcAft>
                <a:spcPts val="0"/>
              </a:spcAft>
              <a:buSzPts val="1800"/>
              <a:buChar char="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35" name="Google Shape;135;p28"/>
          <p:cNvSpPr txBox="1"/>
          <p:nvPr/>
        </p:nvSpPr>
        <p:spPr>
          <a:xfrm>
            <a:off x="324000" y="324000"/>
            <a:ext cx="11545200" cy="75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accent2"/>
                </a:solidFill>
                <a:latin typeface="Arial" panose="020B0604020202020204"/>
                <a:ea typeface="Arial" panose="020B0604020202020204"/>
                <a:cs typeface="Arial" panose="020B0604020202020204"/>
                <a:sym typeface="Arial" panose="020B0604020202020204"/>
              </a:rPr>
              <a:t>Sources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9"/>
          <p:cNvSpPr txBox="1">
            <a:spLocks noGrp="1"/>
          </p:cNvSpPr>
          <p:nvPr>
            <p:ph type="title"/>
          </p:nvPr>
        </p:nvSpPr>
        <p:spPr>
          <a:xfrm>
            <a:off x="324000" y="324075"/>
            <a:ext cx="11545200" cy="756175"/>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accent2"/>
              </a:buClr>
              <a:buSzPts val="2800"/>
              <a:buFont typeface="Arial" panose="020B0604020202020204"/>
              <a:buNone/>
              <a:defRPr sz="2800" b="1" i="0" u="none" strike="noStrike" cap="none">
                <a:solidFill>
                  <a:schemeClr val="accent2"/>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p9"/>
          <p:cNvSpPr txBox="1">
            <a:spLocks noGrp="1"/>
          </p:cNvSpPr>
          <p:nvPr>
            <p:ph type="body" idx="1"/>
          </p:nvPr>
        </p:nvSpPr>
        <p:spPr>
          <a:xfrm>
            <a:off x="324000" y="1691079"/>
            <a:ext cx="11545200" cy="4392042"/>
          </a:xfrm>
          <a:prstGeom prst="rect">
            <a:avLst/>
          </a:prstGeom>
          <a:noFill/>
          <a:ln>
            <a:noFill/>
          </a:ln>
        </p:spPr>
        <p:txBody>
          <a:bodyPr spcFirstLastPara="1" wrap="square" lIns="0" tIns="0" rIns="0" bIns="0" anchor="t" anchorCtr="0">
            <a:noAutofit/>
          </a:bodyPr>
          <a:lstStyle>
            <a:lvl1pPr marL="457200" marR="0" lvl="0" indent="-342900" algn="l" rtl="0">
              <a:lnSpc>
                <a:spcPct val="100000"/>
              </a:lnSpc>
              <a:spcBef>
                <a:spcPts val="0"/>
              </a:spcBef>
              <a:spcAft>
                <a:spcPts val="0"/>
              </a:spcAft>
              <a:buClr>
                <a:schemeClr val="accent1"/>
              </a:buClr>
              <a:buSzPts val="1800"/>
              <a:buFont typeface="Noto Sans Symbols"/>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30200" algn="l" rtl="0">
              <a:lnSpc>
                <a:spcPct val="100000"/>
              </a:lnSpc>
              <a:spcBef>
                <a:spcPts val="340"/>
              </a:spcBef>
              <a:spcAft>
                <a:spcPts val="0"/>
              </a:spcAft>
              <a:buClr>
                <a:schemeClr val="accent1"/>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97815" algn="l" rtl="0">
              <a:lnSpc>
                <a:spcPct val="100000"/>
              </a:lnSpc>
              <a:spcBef>
                <a:spcPts val="225"/>
              </a:spcBef>
              <a:spcAft>
                <a:spcPts val="0"/>
              </a:spcAft>
              <a:buClr>
                <a:schemeClr val="accent1"/>
              </a:buClr>
              <a:buSzPts val="1088"/>
              <a:buFont typeface="Noto Sans Symbols"/>
              <a:buChar char="−"/>
              <a:defRPr sz="145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90830" algn="l" rtl="0">
              <a:lnSpc>
                <a:spcPct val="100000"/>
              </a:lnSpc>
              <a:spcBef>
                <a:spcPts val="140"/>
              </a:spcBef>
              <a:spcAft>
                <a:spcPts val="0"/>
              </a:spcAft>
              <a:buClr>
                <a:schemeClr val="accent1"/>
              </a:buClr>
              <a:buSzPts val="975"/>
              <a:buFont typeface="Courier New" panose="02070309020205020404"/>
              <a:buChar char="o"/>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30200" algn="l" rtl="0">
              <a:lnSpc>
                <a:spcPct val="100000"/>
              </a:lnSpc>
              <a:spcBef>
                <a:spcPts val="250"/>
              </a:spcBef>
              <a:spcAft>
                <a:spcPts val="0"/>
              </a:spcAft>
              <a:buClr>
                <a:schemeClr val="dk1"/>
              </a:buClr>
              <a:buSzPts val="1600"/>
              <a:buFont typeface="Courier New" panose="02070309020205020404"/>
              <a:buChar char="o"/>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Google Shape;9;p9"/>
          <p:cNvSpPr/>
          <p:nvPr/>
        </p:nvSpPr>
        <p:spPr>
          <a:xfrm>
            <a:off x="324000" y="0"/>
            <a:ext cx="11545200" cy="162038"/>
          </a:xfrm>
          <a:prstGeom prst="rect">
            <a:avLst/>
          </a:prstGeom>
          <a:solidFill>
            <a:schemeClr val="accent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0" name="Google Shape;10;p9"/>
          <p:cNvCxnSpPr/>
          <p:nvPr/>
        </p:nvCxnSpPr>
        <p:spPr>
          <a:xfrm>
            <a:off x="324000" y="1231485"/>
            <a:ext cx="11545200" cy="0"/>
          </a:xfrm>
          <a:prstGeom prst="straightConnector1">
            <a:avLst/>
          </a:prstGeom>
          <a:noFill/>
          <a:ln w="9525" cap="flat" cmpd="sng">
            <a:solidFill>
              <a:schemeClr val="accent2"/>
            </a:solidFill>
            <a:prstDash val="solid"/>
            <a:round/>
            <a:headEnd type="none" w="sm" len="sm"/>
            <a:tailEnd type="none" w="sm" len="sm"/>
          </a:ln>
        </p:spPr>
      </p:cxnSp>
      <p:sp>
        <p:nvSpPr>
          <p:cNvPr id="11" name="Google Shape;11;p9"/>
          <p:cNvSpPr/>
          <p:nvPr/>
        </p:nvSpPr>
        <p:spPr>
          <a:xfrm>
            <a:off x="324000" y="6537251"/>
            <a:ext cx="11545200" cy="324075"/>
          </a:xfrm>
          <a:prstGeom prst="rect">
            <a:avLst/>
          </a:prstGeom>
          <a:solidFill>
            <a:schemeClr val="dk1"/>
          </a:solidFill>
          <a:ln>
            <a:noFill/>
          </a:ln>
        </p:spPr>
        <p:txBody>
          <a:bodyPr spcFirstLastPara="1" wrap="square" lIns="107150" tIns="85725" rIns="107150" bIns="85725" anchor="ctr" anchorCtr="0">
            <a:noAutofit/>
          </a:bodyPr>
          <a:lstStyle/>
          <a:p>
            <a:pPr marL="0" marR="0" lvl="0" indent="0" algn="ctr" rtl="0">
              <a:lnSpc>
                <a:spcPct val="100000"/>
              </a:lnSpc>
              <a:spcBef>
                <a:spcPts val="0"/>
              </a:spcBef>
              <a:spcAft>
                <a:spcPts val="0"/>
              </a:spcAft>
              <a:buClr>
                <a:srgbClr val="000000"/>
              </a:buClr>
              <a:buSzPts val="900"/>
              <a:buFont typeface="Arial" panose="020B0604020202020204"/>
              <a:buNone/>
            </a:pPr>
            <a:endParaRPr sz="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2" name="Google Shape;12;p9"/>
          <p:cNvSpPr txBox="1"/>
          <p:nvPr/>
        </p:nvSpPr>
        <p:spPr>
          <a:xfrm>
            <a:off x="324000" y="6630039"/>
            <a:ext cx="3153112" cy="138499"/>
          </a:xfrm>
          <a:prstGeom prst="rect">
            <a:avLst/>
          </a:prstGeom>
          <a:noFill/>
          <a:ln>
            <a:noFill/>
          </a:ln>
        </p:spPr>
        <p:txBody>
          <a:bodyPr spcFirstLastPara="1" wrap="square" lIns="85725" tIns="0" rIns="0" bIns="0" anchor="t" anchorCtr="0">
            <a:spAutoFit/>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b="0" i="0" u="none" strike="noStrike" cap="none">
                <a:solidFill>
                  <a:srgbClr val="FFFFFF"/>
                </a:solidFill>
                <a:latin typeface="Arial" panose="020B0604020202020204"/>
                <a:ea typeface="Arial" panose="020B0604020202020204"/>
                <a:cs typeface="Arial" panose="020B0604020202020204"/>
                <a:sym typeface="Arial" panose="020B0604020202020204"/>
              </a:rPr>
              <a:t>© 2019 SAP SE / SAP UCC Magdeburg. All rights reserved.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Google Shape;13;p9"/>
          <p:cNvSpPr txBox="1"/>
          <p:nvPr/>
        </p:nvSpPr>
        <p:spPr>
          <a:xfrm>
            <a:off x="11640519" y="6630039"/>
            <a:ext cx="227631" cy="138499"/>
          </a:xfrm>
          <a:prstGeom prst="rect">
            <a:avLst/>
          </a:prstGeom>
          <a:noFill/>
          <a:ln>
            <a:noFill/>
          </a:ln>
        </p:spPr>
        <p:txBody>
          <a:bodyPr spcFirstLastPara="1" wrap="square" lIns="0" tIns="0" rIns="85725" bIns="0" anchor="t" anchorCtr="0">
            <a:spAutoFit/>
          </a:bodyPr>
          <a:lstStyle/>
          <a:p>
            <a:pPr marL="111760" marR="0" lvl="0" indent="-111760" algn="r" rtl="0">
              <a:lnSpc>
                <a:spcPct val="100000"/>
              </a:lnSpc>
              <a:spcBef>
                <a:spcPts val="0"/>
              </a:spcBef>
              <a:spcAft>
                <a:spcPts val="0"/>
              </a:spcAft>
              <a:buClr>
                <a:schemeClr val="accent2"/>
              </a:buClr>
              <a:buSzPts val="900"/>
              <a:buFont typeface="Arial" panose="020B0604020202020204"/>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sz="9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
          <p:cNvSpPr txBox="1">
            <a:spLocks noGrp="1"/>
          </p:cNvSpPr>
          <p:nvPr>
            <p:ph type="title"/>
          </p:nvPr>
        </p:nvSpPr>
        <p:spPr>
          <a:xfrm>
            <a:off x="467999" y="324075"/>
            <a:ext cx="10620000" cy="92333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6000"/>
              <a:buFont typeface="Arial" panose="020B0604020202020204"/>
              <a:buNone/>
            </a:pPr>
            <a:r>
              <a:rPr lang="en-US"/>
              <a:t>Sales and Distribution (SD)</a:t>
            </a:r>
            <a:endParaRPr lang="en-US"/>
          </a:p>
        </p:txBody>
      </p:sp>
      <p:sp>
        <p:nvSpPr>
          <p:cNvPr id="141" name="Google Shape;141;p1"/>
          <p:cNvSpPr txBox="1">
            <a:spLocks noGrp="1"/>
          </p:cNvSpPr>
          <p:nvPr>
            <p:ph type="subTitle" idx="1"/>
          </p:nvPr>
        </p:nvSpPr>
        <p:spPr>
          <a:xfrm>
            <a:off x="467999" y="1540520"/>
            <a:ext cx="10620000" cy="553998"/>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accent1"/>
              </a:buClr>
              <a:buSzPts val="1440"/>
              <a:buFont typeface="Arial" panose="020B0604020202020204"/>
              <a:buNone/>
            </a:pPr>
            <a:r>
              <a:rPr lang="en-US"/>
              <a:t>Curriculum: Introduction to S/4HANA using Global Bike</a:t>
            </a:r>
            <a:endParaRPr lang="en-US"/>
          </a:p>
          <a:p>
            <a:pPr marL="0" marR="0" lvl="0" indent="0" algn="l" rtl="0">
              <a:lnSpc>
                <a:spcPct val="100000"/>
              </a:lnSpc>
              <a:spcBef>
                <a:spcPts val="0"/>
              </a:spcBef>
              <a:spcAft>
                <a:spcPts val="0"/>
              </a:spcAft>
              <a:buClr>
                <a:schemeClr val="accent1"/>
              </a:buClr>
              <a:buSzPts val="1440"/>
              <a:buFont typeface="Arial" panose="020B0604020202020204"/>
              <a:buNone/>
            </a:pPr>
          </a:p>
        </p:txBody>
      </p:sp>
      <p:sp>
        <p:nvSpPr>
          <p:cNvPr id="142" name="Google Shape;142;p1"/>
          <p:cNvSpPr/>
          <p:nvPr/>
        </p:nvSpPr>
        <p:spPr>
          <a:xfrm>
            <a:off x="319088" y="2235232"/>
            <a:ext cx="11558587" cy="3817906"/>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strike="noStrike" cap="none" dirty="0">
                <a:solidFill>
                  <a:schemeClr val="dk1"/>
                </a:solidFill>
                <a:latin typeface="Arial" panose="020B0604020202020204"/>
                <a:ea typeface="Arial" panose="020B0604020202020204"/>
                <a:cs typeface="Arial" panose="020B0604020202020204"/>
                <a:sym typeface="Arial" panose="020B0604020202020204"/>
              </a:rPr>
              <a:t>Symbiosis Centre for Information Technology</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strike="noStrike" cap="none" dirty="0">
                <a:solidFill>
                  <a:schemeClr val="dk1"/>
                </a:solidFill>
                <a:latin typeface="Arial" panose="020B0604020202020204"/>
                <a:ea typeface="Arial" panose="020B0604020202020204"/>
                <a:cs typeface="Arial" panose="020B0604020202020204"/>
                <a:sym typeface="Arial" panose="020B0604020202020204"/>
              </a:rPr>
              <a:t>MBA-DS&amp;DA 2025-27</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strike="noStrike" cap="none" dirty="0">
                <a:solidFill>
                  <a:schemeClr val="dk1"/>
                </a:solidFill>
                <a:latin typeface="Arial" panose="020B0604020202020204"/>
                <a:ea typeface="Arial" panose="020B0604020202020204"/>
                <a:cs typeface="Arial" panose="020B0604020202020204"/>
                <a:sym typeface="Arial" panose="020B0604020202020204"/>
              </a:rPr>
              <a:t>Semester III – Supply Chain &amp; Operations Analytics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strike="noStrike" cap="none" dirty="0">
                <a:solidFill>
                  <a:schemeClr val="dk1"/>
                </a:solidFill>
                <a:latin typeface="Arial" panose="020B0604020202020204"/>
                <a:ea typeface="Arial" panose="020B0604020202020204"/>
                <a:cs typeface="Arial" panose="020B0604020202020204"/>
                <a:sym typeface="Arial" panose="020B0604020202020204"/>
              </a:rPr>
              <a:t>Integrated  Sold-to-Cash Cycle (Classwork) – 30 Marks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
          <p:cNvSpPr txBox="1"/>
          <p:nvPr/>
        </p:nvSpPr>
        <p:spPr>
          <a:xfrm>
            <a:off x="324000" y="1347014"/>
            <a:ext cx="11553675" cy="4686948"/>
          </a:xfrm>
          <a:prstGeom prst="rect">
            <a:avLst/>
          </a:prstGeom>
          <a:noFill/>
          <a:ln>
            <a:noFill/>
          </a:ln>
        </p:spPr>
        <p:txBody>
          <a:bodyPr spcFirstLastPara="1" wrap="square" lIns="91425" tIns="45700" rIns="91425" bIns="45700" anchor="t" anchorCtr="0">
            <a:spAutoFit/>
          </a:bodyPr>
          <a:lstStyle/>
          <a:p>
            <a:pPr marL="0" marR="0">
              <a:lnSpc>
                <a:spcPct val="107000"/>
              </a:lnSpc>
              <a:spcBef>
                <a:spcPts val="0"/>
              </a:spcBef>
              <a:spcAft>
                <a:spcPts val="800"/>
              </a:spcAft>
            </a:pPr>
            <a:r>
              <a:rPr lang="en-US" sz="1600" b="1" kern="1800" dirty="0">
                <a:effectLst/>
                <a:latin typeface="+mn-lt"/>
                <a:ea typeface="Times New Roman" panose="02020603050405020304" pitchFamily="18" charset="0"/>
                <a:cs typeface="Times New Roman" panose="02020603050405020304" pitchFamily="18" charset="0"/>
              </a:rPr>
              <a:t>Guidelines</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dirty="0">
                <a:effectLst/>
                <a:latin typeface="+mn-lt"/>
                <a:ea typeface="Times New Roman" panose="02020603050405020304" pitchFamily="18" charset="0"/>
                <a:cs typeface="Times New Roman" panose="02020603050405020304" pitchFamily="18" charset="0"/>
              </a:rPr>
              <a:t>The following are the deliverables.</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mn-lt"/>
                <a:ea typeface="Times New Roman" panose="02020603050405020304" pitchFamily="18" charset="0"/>
                <a:cs typeface="Times New Roman" panose="02020603050405020304" pitchFamily="18" charset="0"/>
              </a:rPr>
              <a:t>a.</a:t>
            </a:r>
            <a:r>
              <a:rPr lang="en-US" sz="1600" dirty="0">
                <a:effectLst/>
                <a:latin typeface="+mn-lt"/>
                <a:ea typeface="Times New Roman" panose="02020603050405020304" pitchFamily="18" charset="0"/>
                <a:cs typeface="Times New Roman" panose="02020603050405020304" pitchFamily="18" charset="0"/>
              </a:rPr>
              <a:t> Complete </a:t>
            </a:r>
            <a:r>
              <a:rPr lang="en-US" sz="1600" b="1" dirty="0">
                <a:effectLst/>
                <a:latin typeface="+mn-lt"/>
                <a:ea typeface="Times New Roman" panose="02020603050405020304" pitchFamily="18" charset="0"/>
                <a:cs typeface="Times New Roman" panose="02020603050405020304" pitchFamily="18" charset="0"/>
              </a:rPr>
              <a:t>Slide No. 4 – S2C Cycle</a:t>
            </a:r>
            <a:r>
              <a:rPr lang="en-US" sz="1600" dirty="0">
                <a:effectLst/>
                <a:latin typeface="+mn-lt"/>
                <a:ea typeface="Times New Roman" panose="02020603050405020304" pitchFamily="18" charset="0"/>
                <a:cs typeface="Times New Roman" panose="02020603050405020304" pitchFamily="18" charset="0"/>
              </a:rPr>
              <a:t>. Write the result of each step in its respective box. </a:t>
            </a:r>
            <a:r>
              <a:rPr lang="en-US" sz="1600" b="1" dirty="0">
                <a:effectLst/>
                <a:latin typeface="+mn-lt"/>
                <a:ea typeface="Times New Roman" panose="02020603050405020304" pitchFamily="18" charset="0"/>
                <a:cs typeface="Times New Roman" panose="02020603050405020304" pitchFamily="18" charset="0"/>
              </a:rPr>
              <a:t>(10 Marks)</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mn-lt"/>
                <a:ea typeface="Times New Roman" panose="02020603050405020304" pitchFamily="18" charset="0"/>
                <a:cs typeface="Times New Roman" panose="02020603050405020304" pitchFamily="18" charset="0"/>
              </a:rPr>
              <a:t>b.</a:t>
            </a:r>
            <a:r>
              <a:rPr lang="en-US" sz="1600" dirty="0">
                <a:effectLst/>
                <a:latin typeface="+mn-lt"/>
                <a:ea typeface="Times New Roman" panose="02020603050405020304" pitchFamily="18" charset="0"/>
                <a:cs typeface="Times New Roman" panose="02020603050405020304" pitchFamily="18" charset="0"/>
              </a:rPr>
              <a:t> Complete </a:t>
            </a:r>
            <a:r>
              <a:rPr lang="en-US" sz="1600" b="1" dirty="0">
                <a:effectLst/>
                <a:latin typeface="+mn-lt"/>
                <a:ea typeface="Times New Roman" panose="02020603050405020304" pitchFamily="18" charset="0"/>
                <a:cs typeface="Times New Roman" panose="02020603050405020304" pitchFamily="18" charset="0"/>
              </a:rPr>
              <a:t>Slide No. 5</a:t>
            </a:r>
            <a:r>
              <a:rPr lang="en-US" sz="1600" dirty="0">
                <a:effectLst/>
                <a:latin typeface="+mn-lt"/>
                <a:ea typeface="Times New Roman" panose="02020603050405020304" pitchFamily="18" charset="0"/>
                <a:cs typeface="Times New Roman" panose="02020603050405020304" pitchFamily="18" charset="0"/>
              </a:rPr>
              <a:t> by identifying the </a:t>
            </a:r>
            <a:r>
              <a:rPr lang="en-US" sz="1600" b="1" dirty="0">
                <a:effectLst/>
                <a:latin typeface="+mn-lt"/>
                <a:ea typeface="Times New Roman" panose="02020603050405020304" pitchFamily="18" charset="0"/>
                <a:cs typeface="Times New Roman" panose="02020603050405020304" pitchFamily="18" charset="0"/>
              </a:rPr>
              <a:t>four data types</a:t>
            </a:r>
            <a:r>
              <a:rPr lang="en-US" sz="1600" dirty="0">
                <a:effectLst/>
                <a:latin typeface="+mn-lt"/>
                <a:ea typeface="Times New Roman" panose="02020603050405020304" pitchFamily="18" charset="0"/>
                <a:cs typeface="Times New Roman" panose="02020603050405020304" pitchFamily="18" charset="0"/>
              </a:rPr>
              <a:t> required to complete and </a:t>
            </a:r>
            <a:r>
              <a:rPr lang="en-US" sz="1600" dirty="0" err="1">
                <a:effectLst/>
                <a:latin typeface="+mn-lt"/>
                <a:ea typeface="Times New Roman" panose="02020603050405020304" pitchFamily="18" charset="0"/>
                <a:cs typeface="Times New Roman" panose="02020603050405020304" pitchFamily="18" charset="0"/>
              </a:rPr>
              <a:t>analyse</a:t>
            </a:r>
            <a:r>
              <a:rPr lang="en-US" sz="1600" dirty="0">
                <a:effectLst/>
                <a:latin typeface="+mn-lt"/>
                <a:ea typeface="Times New Roman" panose="02020603050405020304" pitchFamily="18" charset="0"/>
                <a:cs typeface="Times New Roman" panose="02020603050405020304" pitchFamily="18" charset="0"/>
              </a:rPr>
              <a:t> the S2C cycle. </a:t>
            </a:r>
            <a:r>
              <a:rPr lang="en-US" sz="1600" b="1" dirty="0">
                <a:effectLst/>
                <a:latin typeface="+mn-lt"/>
                <a:ea typeface="Times New Roman" panose="02020603050405020304" pitchFamily="18" charset="0"/>
                <a:cs typeface="Times New Roman" panose="02020603050405020304" pitchFamily="18" charset="0"/>
              </a:rPr>
              <a:t>(5 Marks)</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mn-lt"/>
                <a:ea typeface="Times New Roman" panose="02020603050405020304" pitchFamily="18" charset="0"/>
                <a:cs typeface="Times New Roman" panose="02020603050405020304" pitchFamily="18" charset="0"/>
              </a:rPr>
              <a:t>c.</a:t>
            </a:r>
            <a:r>
              <a:rPr lang="en-US" sz="1600" dirty="0">
                <a:effectLst/>
                <a:latin typeface="+mn-lt"/>
                <a:ea typeface="Times New Roman" panose="02020603050405020304" pitchFamily="18" charset="0"/>
                <a:cs typeface="Times New Roman" panose="02020603050405020304" pitchFamily="18" charset="0"/>
              </a:rPr>
              <a:t> Complete </a:t>
            </a:r>
            <a:r>
              <a:rPr lang="en-US" sz="1600" b="1" dirty="0">
                <a:effectLst/>
                <a:latin typeface="+mn-lt"/>
                <a:ea typeface="Times New Roman" panose="02020603050405020304" pitchFamily="18" charset="0"/>
                <a:cs typeface="Times New Roman" panose="02020603050405020304" pitchFamily="18" charset="0"/>
              </a:rPr>
              <a:t>Slide No. 6</a:t>
            </a:r>
            <a:r>
              <a:rPr lang="en-US" sz="1600" dirty="0">
                <a:effectLst/>
                <a:latin typeface="+mn-lt"/>
                <a:ea typeface="Times New Roman" panose="02020603050405020304" pitchFamily="18" charset="0"/>
                <a:cs typeface="Times New Roman" panose="02020603050405020304" pitchFamily="18" charset="0"/>
              </a:rPr>
              <a:t>. Select </a:t>
            </a:r>
            <a:r>
              <a:rPr lang="en-US" sz="1600" b="1" dirty="0">
                <a:effectLst/>
                <a:latin typeface="+mn-lt"/>
                <a:ea typeface="Times New Roman" panose="02020603050405020304" pitchFamily="18" charset="0"/>
                <a:cs typeface="Times New Roman" panose="02020603050405020304" pitchFamily="18" charset="0"/>
              </a:rPr>
              <a:t>any TWO roles</a:t>
            </a:r>
            <a:r>
              <a:rPr lang="en-US" sz="1600" dirty="0">
                <a:effectLst/>
                <a:latin typeface="+mn-lt"/>
                <a:ea typeface="Times New Roman" panose="02020603050405020304" pitchFamily="18" charset="0"/>
                <a:cs typeface="Times New Roman" panose="02020603050405020304" pitchFamily="18" charset="0"/>
              </a:rPr>
              <a:t> from the S2C Cycle and develop </a:t>
            </a:r>
            <a:r>
              <a:rPr lang="en-US" sz="1600" b="1" dirty="0">
                <a:effectLst/>
                <a:latin typeface="+mn-lt"/>
                <a:ea typeface="Times New Roman" panose="02020603050405020304" pitchFamily="18" charset="0"/>
                <a:cs typeface="Times New Roman" panose="02020603050405020304" pitchFamily="18" charset="0"/>
              </a:rPr>
              <a:t>TWO KPIs for each role</a:t>
            </a:r>
            <a:r>
              <a:rPr lang="en-US" sz="1600" dirty="0">
                <a:effectLst/>
                <a:latin typeface="+mn-lt"/>
                <a:ea typeface="Times New Roman" panose="02020603050405020304" pitchFamily="18" charset="0"/>
                <a:cs typeface="Times New Roman" panose="02020603050405020304" pitchFamily="18" charset="0"/>
              </a:rPr>
              <a:t>. Explain how these KPIs are critical for measuring the performance of the selected roles in the GBI S2C cycle. </a:t>
            </a:r>
            <a:r>
              <a:rPr lang="en-US" sz="1600" b="1" dirty="0">
                <a:effectLst/>
                <a:latin typeface="+mn-lt"/>
                <a:ea typeface="Times New Roman" panose="02020603050405020304" pitchFamily="18" charset="0"/>
                <a:cs typeface="Times New Roman" panose="02020603050405020304" pitchFamily="18" charset="0"/>
              </a:rPr>
              <a:t>(5 Marks)</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dirty="0">
                <a:effectLst/>
                <a:latin typeface="+mn-lt"/>
                <a:ea typeface="Times New Roman" panose="02020603050405020304" pitchFamily="18" charset="0"/>
                <a:cs typeface="Times New Roman" panose="02020603050405020304" pitchFamily="18" charset="0"/>
              </a:rPr>
              <a:t>○ The </a:t>
            </a:r>
            <a:r>
              <a:rPr lang="en-US" sz="1600" b="1" dirty="0">
                <a:effectLst/>
                <a:latin typeface="+mn-lt"/>
                <a:ea typeface="Times New Roman" panose="02020603050405020304" pitchFamily="18" charset="0"/>
                <a:cs typeface="Times New Roman" panose="02020603050405020304" pitchFamily="18" charset="0"/>
              </a:rPr>
              <a:t>uniqueness, relevance and analytical nature</a:t>
            </a:r>
            <a:r>
              <a:rPr lang="en-US" sz="1600" dirty="0">
                <a:effectLst/>
                <a:latin typeface="+mn-lt"/>
                <a:ea typeface="Times New Roman" panose="02020603050405020304" pitchFamily="18" charset="0"/>
                <a:cs typeface="Times New Roman" panose="02020603050405020304" pitchFamily="18" charset="0"/>
              </a:rPr>
              <a:t> of the KPIs will attract more marks.</a:t>
            </a:r>
            <a:br>
              <a:rPr lang="en-US" sz="1600" dirty="0">
                <a:effectLst/>
                <a:latin typeface="+mn-lt"/>
                <a:ea typeface="Times New Roman" panose="02020603050405020304" pitchFamily="18" charset="0"/>
                <a:cs typeface="Times New Roman" panose="02020603050405020304" pitchFamily="18" charset="0"/>
              </a:rPr>
            </a:br>
            <a:r>
              <a:rPr lang="en-US" sz="1600" dirty="0">
                <a:effectLst/>
                <a:latin typeface="+mn-lt"/>
                <a:ea typeface="Times New Roman" panose="02020603050405020304" pitchFamily="18" charset="0"/>
                <a:cs typeface="Times New Roman" panose="02020603050405020304" pitchFamily="18" charset="0"/>
              </a:rPr>
              <a:t>○ Example: </a:t>
            </a:r>
            <a:r>
              <a:rPr lang="en-US" sz="1600" i="1" dirty="0">
                <a:effectLst/>
                <a:latin typeface="+mn-lt"/>
                <a:ea typeface="Times New Roman" panose="02020603050405020304" pitchFamily="18" charset="0"/>
                <a:cs typeface="Times New Roman" panose="02020603050405020304" pitchFamily="18" charset="0"/>
              </a:rPr>
              <a:t>For a Procurement Manager – Supplier On-Time Delivery % directly measures supplier reliability and supports procurement performance.</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mn-lt"/>
                <a:ea typeface="Times New Roman" panose="02020603050405020304" pitchFamily="18" charset="0"/>
                <a:cs typeface="Times New Roman" panose="02020603050405020304" pitchFamily="18" charset="0"/>
              </a:rPr>
              <a:t>d. </a:t>
            </a:r>
            <a:r>
              <a:rPr lang="en-US" sz="1600" dirty="0">
                <a:effectLst/>
                <a:latin typeface="+mn-lt"/>
                <a:ea typeface="Times New Roman" panose="02020603050405020304" pitchFamily="18" charset="0"/>
                <a:cs typeface="Times New Roman" panose="02020603050405020304" pitchFamily="18" charset="0"/>
              </a:rPr>
              <a:t>As </a:t>
            </a:r>
            <a:r>
              <a:rPr lang="en-US" sz="1600" b="1" dirty="0">
                <a:effectLst/>
                <a:latin typeface="+mn-lt"/>
                <a:ea typeface="Times New Roman" panose="02020603050405020304" pitchFamily="18" charset="0"/>
                <a:cs typeface="Times New Roman" panose="02020603050405020304" pitchFamily="18" charset="0"/>
              </a:rPr>
              <a:t>Supply Chain &amp; Operations Analytics</a:t>
            </a:r>
            <a:r>
              <a:rPr lang="en-US" sz="1600" dirty="0">
                <a:effectLst/>
                <a:latin typeface="+mn-lt"/>
                <a:ea typeface="Times New Roman" panose="02020603050405020304" pitchFamily="18" charset="0"/>
                <a:cs typeface="Times New Roman" panose="02020603050405020304" pitchFamily="18" charset="0"/>
              </a:rPr>
              <a:t> students, identify how </a:t>
            </a:r>
            <a:r>
              <a:rPr lang="en-US" sz="1600" b="1" dirty="0">
                <a:effectLst/>
                <a:latin typeface="+mn-lt"/>
                <a:ea typeface="Times New Roman" panose="02020603050405020304" pitchFamily="18" charset="0"/>
                <a:cs typeface="Times New Roman" panose="02020603050405020304" pitchFamily="18" charset="0"/>
              </a:rPr>
              <a:t>Agentic AI</a:t>
            </a:r>
            <a:r>
              <a:rPr lang="en-US" sz="1600" dirty="0">
                <a:effectLst/>
                <a:latin typeface="+mn-lt"/>
                <a:ea typeface="Times New Roman" panose="02020603050405020304" pitchFamily="18" charset="0"/>
                <a:cs typeface="Times New Roman" panose="02020603050405020304" pitchFamily="18" charset="0"/>
              </a:rPr>
              <a:t> </a:t>
            </a:r>
            <a:r>
              <a:rPr lang="en-US" sz="1600" b="1" dirty="0">
                <a:effectLst/>
                <a:latin typeface="+mn-lt"/>
                <a:ea typeface="Times New Roman" panose="02020603050405020304" pitchFamily="18" charset="0"/>
                <a:cs typeface="Times New Roman" panose="02020603050405020304" pitchFamily="18" charset="0"/>
              </a:rPr>
              <a:t>in any three roles </a:t>
            </a:r>
            <a:r>
              <a:rPr lang="en-US" sz="1600" dirty="0">
                <a:effectLst/>
                <a:latin typeface="+mn-lt"/>
                <a:ea typeface="Times New Roman" panose="02020603050405020304" pitchFamily="18" charset="0"/>
                <a:cs typeface="Times New Roman" panose="02020603050405020304" pitchFamily="18" charset="0"/>
              </a:rPr>
              <a:t>could support or automate activities performed by your selected roles. Briefly indicate the </a:t>
            </a:r>
            <a:r>
              <a:rPr lang="en-US" sz="1600" b="1" dirty="0">
                <a:effectLst/>
                <a:latin typeface="+mn-lt"/>
                <a:ea typeface="Times New Roman" panose="02020603050405020304" pitchFamily="18" charset="0"/>
                <a:cs typeface="Times New Roman" panose="02020603050405020304" pitchFamily="18" charset="0"/>
              </a:rPr>
              <a:t>data, decision and action</a:t>
            </a:r>
            <a:r>
              <a:rPr lang="en-US" sz="1600" dirty="0">
                <a:effectLst/>
                <a:latin typeface="+mn-lt"/>
                <a:ea typeface="Times New Roman" panose="02020603050405020304" pitchFamily="18" charset="0"/>
                <a:cs typeface="Times New Roman" panose="02020603050405020304" pitchFamily="18" charset="0"/>
              </a:rPr>
              <a:t> involved. You are motivated to search the internet and use </a:t>
            </a:r>
            <a:r>
              <a:rPr lang="en-US" sz="1600" b="1" dirty="0" err="1">
                <a:effectLst/>
                <a:latin typeface="+mn-lt"/>
                <a:ea typeface="Times New Roman" panose="02020603050405020304" pitchFamily="18" charset="0"/>
                <a:cs typeface="Times New Roman" panose="02020603050405020304" pitchFamily="18" charset="0"/>
              </a:rPr>
              <a:t>GenAI</a:t>
            </a:r>
            <a:r>
              <a:rPr lang="en-US" sz="1600" b="1" dirty="0">
                <a:effectLst/>
                <a:latin typeface="+mn-lt"/>
                <a:ea typeface="Times New Roman" panose="02020603050405020304" pitchFamily="18" charset="0"/>
                <a:cs typeface="Times New Roman" panose="02020603050405020304" pitchFamily="18" charset="0"/>
              </a:rPr>
              <a:t>/Agentic AI</a:t>
            </a:r>
            <a:r>
              <a:rPr lang="en-US" sz="1600" dirty="0">
                <a:effectLst/>
                <a:latin typeface="+mn-lt"/>
                <a:ea typeface="Times New Roman" panose="02020603050405020304" pitchFamily="18" charset="0"/>
                <a:cs typeface="Times New Roman" panose="02020603050405020304" pitchFamily="18" charset="0"/>
              </a:rPr>
              <a:t>. Share the </a:t>
            </a:r>
            <a:r>
              <a:rPr lang="en-US" sz="1600" b="1" dirty="0">
                <a:effectLst/>
                <a:latin typeface="+mn-lt"/>
                <a:ea typeface="Times New Roman" panose="02020603050405020304" pitchFamily="18" charset="0"/>
                <a:cs typeface="Times New Roman" panose="02020603050405020304" pitchFamily="18" charset="0"/>
              </a:rPr>
              <a:t>prompt(s) used</a:t>
            </a:r>
            <a:r>
              <a:rPr lang="en-US" sz="1600" dirty="0">
                <a:effectLst/>
                <a:latin typeface="+mn-lt"/>
                <a:ea typeface="Times New Roman" panose="02020603050405020304" pitchFamily="18" charset="0"/>
                <a:cs typeface="Times New Roman" panose="02020603050405020304" pitchFamily="18" charset="0"/>
              </a:rPr>
              <a:t> on a separate slide.</a:t>
            </a:r>
            <a:endParaRPr lang="en-US" sz="1600" dirty="0">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mn-lt"/>
                <a:ea typeface="Times New Roman" panose="02020603050405020304" pitchFamily="18" charset="0"/>
                <a:cs typeface="Times New Roman" panose="02020603050405020304" pitchFamily="18" charset="0"/>
              </a:rPr>
              <a:t>DO NOT COPY OR PASTE FROM GENAI / THE INTERNET / YOUR CLASSMATES</a:t>
            </a:r>
            <a:r>
              <a:rPr lang="en-US" sz="1600" dirty="0">
                <a:effectLst/>
                <a:latin typeface="+mn-lt"/>
                <a:ea typeface="Times New Roman" panose="02020603050405020304" pitchFamily="18" charset="0"/>
                <a:cs typeface="Times New Roman" panose="02020603050405020304" pitchFamily="18" charset="0"/>
              </a:rPr>
              <a:t>, which will result in getting </a:t>
            </a:r>
            <a:r>
              <a:rPr lang="en-US" sz="1600" b="1" dirty="0">
                <a:effectLst/>
                <a:latin typeface="+mn-lt"/>
                <a:ea typeface="Times New Roman" panose="02020603050405020304" pitchFamily="18" charset="0"/>
                <a:cs typeface="Times New Roman" panose="02020603050405020304" pitchFamily="18" charset="0"/>
              </a:rPr>
              <a:t>"0" marks.</a:t>
            </a:r>
            <a:endParaRPr lang="en-US" sz="1600" dirty="0">
              <a:effectLst/>
              <a:latin typeface="+mn-lt"/>
              <a:ea typeface="Calibri" panose="020F0502020204030204" pitchFamily="34" charset="0"/>
              <a:cs typeface="Times New Roman" panose="02020603050405020304" pitchFamily="18" charset="0"/>
            </a:endParaRPr>
          </a:p>
          <a:p>
            <a:r>
              <a:rPr lang="en-US" sz="1600" dirty="0">
                <a:effectLst/>
                <a:latin typeface="+mn-lt"/>
                <a:ea typeface="Times New Roman" panose="02020603050405020304" pitchFamily="18" charset="0"/>
              </a:rPr>
              <a:t>You are welcome to discuss with me if you need further details/clarification</a:t>
            </a:r>
            <a:endParaRPr sz="1600" b="0" i="0" u="none" strike="noStrike" cap="none" dirty="0">
              <a:solidFill>
                <a:srgbClr val="000000"/>
              </a:solidFill>
              <a:latin typeface="+mn-lt"/>
              <a:ea typeface="Times New Roman" panose="02020603050405020304"/>
              <a:cs typeface="Times New Roman" panose="02020603050405020304"/>
              <a:sym typeface="Times New Roman" panose="02020603050405020304"/>
            </a:endParaRPr>
          </a:p>
        </p:txBody>
      </p:sp>
      <p:sp>
        <p:nvSpPr>
          <p:cNvPr id="148" name="Google Shape;148;p2"/>
          <p:cNvSpPr txBox="1">
            <a:spLocks noGrp="1"/>
          </p:cNvSpPr>
          <p:nvPr>
            <p:ph type="title"/>
          </p:nvPr>
        </p:nvSpPr>
        <p:spPr>
          <a:xfrm>
            <a:off x="324000" y="324075"/>
            <a:ext cx="5248125" cy="75617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accent2"/>
              </a:buClr>
              <a:buSzPts val="2800"/>
              <a:buFont typeface="Arial" panose="020B0604020202020204"/>
              <a:buNone/>
            </a:pPr>
            <a:r>
              <a:rPr lang="en-US"/>
              <a:t>Guidelines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
          <p:cNvSpPr txBox="1">
            <a:spLocks noGrp="1"/>
          </p:cNvSpPr>
          <p:nvPr>
            <p:ph type="title"/>
          </p:nvPr>
        </p:nvSpPr>
        <p:spPr>
          <a:xfrm>
            <a:off x="324000" y="324075"/>
            <a:ext cx="5248125" cy="75617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accent2"/>
              </a:buClr>
              <a:buSzPts val="2800"/>
              <a:buFont typeface="Arial" panose="020B0604020202020204"/>
              <a:buNone/>
            </a:pPr>
            <a:r>
              <a:rPr lang="en-US"/>
              <a:t>Employees / Roles involved</a:t>
            </a:r>
            <a:endParaRPr lang="en-US"/>
          </a:p>
        </p:txBody>
      </p:sp>
      <p:graphicFrame>
        <p:nvGraphicFramePr>
          <p:cNvPr id="154" name="Google Shape;154;p3"/>
          <p:cNvGraphicFramePr/>
          <p:nvPr/>
        </p:nvGraphicFramePr>
        <p:xfrm>
          <a:off x="1769293" y="2091355"/>
          <a:ext cx="8130100" cy="2880430"/>
        </p:xfrm>
        <a:graphic>
          <a:graphicData uri="http://schemas.openxmlformats.org/drawingml/2006/table">
            <a:tbl>
              <a:tblPr firstRow="1" bandRow="1">
                <a:solidFill>
                  <a:srgbClr val="C0DFBB"/>
                </a:solidFill>
                <a:tableStyleId>{B8D6F890-A439-49F1-84FE-55D4BC673157}</a:tableStyleId>
              </a:tblPr>
              <a:tblGrid>
                <a:gridCol w="4065050"/>
                <a:gridCol w="4065050"/>
              </a:tblGrid>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Name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Role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David Lopez</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East Representative (Miami DC)</a:t>
                      </a:r>
                      <a:endParaRPr sz="21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Maria Diaz</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Sales Person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Matthias Dosch</a:t>
                      </a:r>
                      <a:endParaRPr sz="21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Sales Person 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Sandeep Das</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Miami Warehouse Supervisor </a:t>
                      </a:r>
                      <a:endParaRPr sz="21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Sergey Petrov</a:t>
                      </a:r>
                      <a:endParaRPr sz="21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Miami Warehouse Employee</a:t>
                      </a:r>
                      <a:endParaRPr sz="21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a:t>Stepahnie Bernard</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u="none" strike="noStrike" cap="none" dirty="0"/>
                        <a:t>Accountant</a:t>
                      </a:r>
                      <a:endParaRPr lang="en-US" sz="14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p:nvPr/>
        </p:nvSpPr>
        <p:spPr>
          <a:xfrm>
            <a:off x="533699" y="1715133"/>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rgbClr val="FFDF93"/>
                </a:solidFill>
                <a:latin typeface="Arial" panose="020B0604020202020204"/>
                <a:ea typeface="Arial" panose="020B0604020202020204"/>
                <a:cs typeface="Arial" panose="020B0604020202020204"/>
                <a:sym typeface="Arial" panose="020B0604020202020204"/>
              </a:rPr>
              <a:t>1. Create New Customer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
          <p:cNvSpPr/>
          <p:nvPr/>
        </p:nvSpPr>
        <p:spPr>
          <a:xfrm>
            <a:off x="696103" y="323773"/>
            <a:ext cx="9690455" cy="7429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dirty="0">
                <a:solidFill>
                  <a:schemeClr val="dk1"/>
                </a:solidFill>
                <a:latin typeface="Arial" panose="020B0604020202020204"/>
                <a:ea typeface="Arial" panose="020B0604020202020204"/>
                <a:cs typeface="Arial" panose="020B0604020202020204"/>
                <a:sym typeface="Arial" panose="020B0604020202020204"/>
              </a:rPr>
              <a:t>a. Integrated  Sold-to-Cash Cycle – 10 Marks</a:t>
            </a:r>
            <a:endParaRPr sz="32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63" name="Google Shape;163;p4"/>
          <p:cNvSpPr/>
          <p:nvPr/>
        </p:nvSpPr>
        <p:spPr>
          <a:xfrm>
            <a:off x="2363794" y="1715133"/>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b="1" dirty="0">
                <a:solidFill>
                  <a:srgbClr val="FFDF93"/>
                </a:solidFill>
              </a:rPr>
              <a:t>2</a:t>
            </a: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 Create Customer Inquiry</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64" name="Google Shape;164;p4"/>
          <p:cNvSpPr/>
          <p:nvPr/>
        </p:nvSpPr>
        <p:spPr>
          <a:xfrm>
            <a:off x="4137183" y="1728983"/>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b="1" dirty="0">
                <a:solidFill>
                  <a:srgbClr val="FFDF93"/>
                </a:solidFill>
              </a:rPr>
              <a:t>3</a:t>
            </a: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 Create Customer Quotation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65" name="Google Shape;165;p4"/>
          <p:cNvSpPr/>
          <p:nvPr/>
        </p:nvSpPr>
        <p:spPr>
          <a:xfrm>
            <a:off x="5882850" y="1728983"/>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4. Create Customer Order</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66" name="Google Shape;166;p4"/>
          <p:cNvSpPr/>
          <p:nvPr/>
        </p:nvSpPr>
        <p:spPr>
          <a:xfrm>
            <a:off x="7685425" y="1732670"/>
            <a:ext cx="2001313" cy="811646"/>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5. Check Stock Status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67" name="Google Shape;167;p4"/>
          <p:cNvSpPr/>
          <p:nvPr/>
        </p:nvSpPr>
        <p:spPr>
          <a:xfrm>
            <a:off x="3097002" y="5465635"/>
            <a:ext cx="3182648" cy="811646"/>
          </a:xfrm>
          <a:prstGeom prst="chevron">
            <a:avLst>
              <a:gd name="adj" fmla="val 50000"/>
            </a:avLst>
          </a:prstGeom>
          <a:solidFill>
            <a:srgbClr val="84CB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12. Display Billing Document  &amp; Post Customer Invoice</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68" name="Google Shape;168;p4"/>
          <p:cNvSpPr/>
          <p:nvPr/>
        </p:nvSpPr>
        <p:spPr>
          <a:xfrm>
            <a:off x="6200048" y="5470990"/>
            <a:ext cx="2001313" cy="811646"/>
          </a:xfrm>
          <a:prstGeom prst="chevron">
            <a:avLst>
              <a:gd name="adj" fmla="val 50000"/>
            </a:avLst>
          </a:prstGeom>
          <a:solidFill>
            <a:srgbClr val="84CB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13. Post receipt of Customer Payment</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69" name="Google Shape;169;p4"/>
          <p:cNvSpPr/>
          <p:nvPr/>
        </p:nvSpPr>
        <p:spPr>
          <a:xfrm>
            <a:off x="7995513" y="5494798"/>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14. Review Document Flow</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70" name="Google Shape;170;p4"/>
          <p:cNvSpPr/>
          <p:nvPr/>
        </p:nvSpPr>
        <p:spPr>
          <a:xfrm rot="5400000">
            <a:off x="5416921" y="2080024"/>
            <a:ext cx="728845" cy="1604542"/>
          </a:xfrm>
          <a:prstGeom prst="curvedLeftArrow">
            <a:avLst>
              <a:gd name="adj1" fmla="val 25000"/>
              <a:gd name="adj2" fmla="val 50000"/>
              <a:gd name="adj3" fmla="val 25000"/>
            </a:avLst>
          </a:prstGeom>
          <a:solidFill>
            <a:srgbClr val="003283"/>
          </a:solidFill>
          <a:ln w="9525" cap="flat" cmpd="sng">
            <a:solidFill>
              <a:schemeClr val="dk1"/>
            </a:solidFill>
            <a:prstDash val="lgDash"/>
            <a:miter lim="800000"/>
            <a:headEnd type="none" w="sm" len="sm"/>
            <a:tailEnd type="none" w="sm" len="sm"/>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71" name="Google Shape;171;p4"/>
          <p:cNvSpPr txBox="1"/>
          <p:nvPr/>
        </p:nvSpPr>
        <p:spPr>
          <a:xfrm>
            <a:off x="5406125" y="2535349"/>
            <a:ext cx="804707" cy="64633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With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reference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to</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 name="Google Shape;172;p4"/>
          <p:cNvSpPr/>
          <p:nvPr/>
        </p:nvSpPr>
        <p:spPr>
          <a:xfrm rot="5400000">
            <a:off x="3417798" y="2088991"/>
            <a:ext cx="728845" cy="1604542"/>
          </a:xfrm>
          <a:prstGeom prst="curvedLeftArrow">
            <a:avLst>
              <a:gd name="adj1" fmla="val 25000"/>
              <a:gd name="adj2" fmla="val 54361"/>
              <a:gd name="adj3" fmla="val 25000"/>
            </a:avLst>
          </a:prstGeom>
          <a:solidFill>
            <a:srgbClr val="003283"/>
          </a:solidFill>
          <a:ln w="9525" cap="flat" cmpd="sng">
            <a:solidFill>
              <a:schemeClr val="dk1"/>
            </a:solidFill>
            <a:prstDash val="lgDash"/>
            <a:miter lim="800000"/>
            <a:headEnd type="none" w="sm" len="sm"/>
            <a:tailEnd type="none" w="sm" len="sm"/>
          </a:ln>
        </p:spPr>
        <p:txBody>
          <a:bodyPr spcFirstLastPara="1" wrap="square" lIns="90000" tIns="72000" rIns="90000" bIns="720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73" name="Google Shape;173;p4"/>
          <p:cNvSpPr txBox="1"/>
          <p:nvPr/>
        </p:nvSpPr>
        <p:spPr>
          <a:xfrm>
            <a:off x="3407002" y="2544316"/>
            <a:ext cx="804707" cy="64633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With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reference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to</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 name="Google Shape;174;p4"/>
          <p:cNvSpPr/>
          <p:nvPr/>
        </p:nvSpPr>
        <p:spPr>
          <a:xfrm>
            <a:off x="11026153" y="1354498"/>
            <a:ext cx="954585" cy="402884"/>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rgbClr val="FFDF93"/>
                </a:solidFill>
                <a:latin typeface="Arial" panose="020B0604020202020204"/>
                <a:ea typeface="Arial" panose="020B0604020202020204"/>
                <a:cs typeface="Arial" panose="020B0604020202020204"/>
                <a:sym typeface="Arial" panose="020B0604020202020204"/>
              </a:rPr>
              <a:t>SD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 name="Google Shape;175;p4"/>
          <p:cNvSpPr/>
          <p:nvPr/>
        </p:nvSpPr>
        <p:spPr>
          <a:xfrm>
            <a:off x="11035673" y="1792649"/>
            <a:ext cx="954585" cy="402884"/>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MM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 name="Google Shape;176;p4"/>
          <p:cNvSpPr/>
          <p:nvPr/>
        </p:nvSpPr>
        <p:spPr>
          <a:xfrm>
            <a:off x="11073769" y="2259387"/>
            <a:ext cx="954585" cy="402884"/>
          </a:xfrm>
          <a:prstGeom prst="chevron">
            <a:avLst>
              <a:gd name="adj" fmla="val 50000"/>
            </a:avLst>
          </a:prstGeom>
          <a:solidFill>
            <a:srgbClr val="84CB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FI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4"/>
          <p:cNvSpPr/>
          <p:nvPr/>
        </p:nvSpPr>
        <p:spPr>
          <a:xfrm>
            <a:off x="642224" y="3997043"/>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6. Track Sales Order</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4"/>
          <p:cNvSpPr/>
          <p:nvPr/>
        </p:nvSpPr>
        <p:spPr>
          <a:xfrm>
            <a:off x="7159985" y="3974180"/>
            <a:ext cx="2001313" cy="811646"/>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9. Pick Materials &amp; Post Goods Issue</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81" name="Google Shape;181;p4"/>
          <p:cNvSpPr/>
          <p:nvPr/>
        </p:nvSpPr>
        <p:spPr>
          <a:xfrm>
            <a:off x="9205891" y="3969231"/>
            <a:ext cx="2001313" cy="811646"/>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10. Check Stock Status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83" name="Google Shape;183;p4"/>
          <p:cNvSpPr/>
          <p:nvPr/>
        </p:nvSpPr>
        <p:spPr>
          <a:xfrm>
            <a:off x="594528" y="5463551"/>
            <a:ext cx="2001313" cy="811646"/>
          </a:xfrm>
          <a:prstGeom prst="chevron">
            <a:avLst>
              <a:gd name="adj" fmla="val 50000"/>
            </a:avLst>
          </a:prstGeom>
          <a:solidFill>
            <a:srgbClr val="84CB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11. Create Invoice for Customer</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84" name="Google Shape;184;p4"/>
          <p:cNvSpPr/>
          <p:nvPr/>
        </p:nvSpPr>
        <p:spPr>
          <a:xfrm>
            <a:off x="696103" y="1300000"/>
            <a:ext cx="1554758" cy="40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BP 126119 – Big Apple Bikes</a:t>
            </a:r>
            <a:endParaRPr sz="800" b="0">
              <a:solidFill>
                <a:srgbClr val="000000"/>
              </a:solidFill>
            </a:endParaRPr>
          </a:p>
        </p:txBody>
      </p:sp>
      <p:sp>
        <p:nvSpPr>
          <p:cNvPr id="187" name="Google Shape;187;p4"/>
          <p:cNvSpPr/>
          <p:nvPr/>
        </p:nvSpPr>
        <p:spPr>
          <a:xfrm>
            <a:off x="2373805" y="1300000"/>
            <a:ext cx="1554758" cy="40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Inquiry 10000053 | 21,400.00 USD</a:t>
            </a:r>
            <a:endParaRPr sz="800" b="0">
              <a:solidFill>
                <a:srgbClr val="000000"/>
              </a:solidFill>
            </a:endParaRPr>
          </a:p>
        </p:txBody>
      </p:sp>
      <p:sp>
        <p:nvSpPr>
          <p:cNvPr id="188" name="Google Shape;188;p4"/>
          <p:cNvSpPr/>
          <p:nvPr/>
        </p:nvSpPr>
        <p:spPr>
          <a:xfrm>
            <a:off x="4111805" y="1300000"/>
            <a:ext cx="1554758" cy="40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Quotation 20000044 | 20,092.50 USD</a:t>
            </a:r>
            <a:endParaRPr sz="800" b="0">
              <a:solidFill>
                <a:srgbClr val="000000"/>
              </a:solidFill>
            </a:endParaRPr>
          </a:p>
        </p:txBody>
      </p:sp>
      <p:sp>
        <p:nvSpPr>
          <p:cNvPr id="189" name="Google Shape;189;p4"/>
          <p:cNvSpPr/>
          <p:nvPr/>
        </p:nvSpPr>
        <p:spPr>
          <a:xfrm>
            <a:off x="5861128" y="1300000"/>
            <a:ext cx="1554758" cy="40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Order 45 | 20,092.50 USD | 5 EA + 2 EA</a:t>
            </a:r>
            <a:endParaRPr sz="800" b="0">
              <a:solidFill>
                <a:srgbClr val="000000"/>
              </a:solidFill>
            </a:endParaRPr>
          </a:p>
        </p:txBody>
      </p:sp>
      <p:sp>
        <p:nvSpPr>
          <p:cNvPr id="190" name="Google Shape;190;p4"/>
          <p:cNvSpPr/>
          <p:nvPr/>
        </p:nvSpPr>
        <p:spPr>
          <a:xfrm>
            <a:off x="7798319" y="1300000"/>
            <a:ext cx="1554758" cy="40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Stock checked in FG00 (MI00): enough for 5 EA + 2 EA</a:t>
            </a:r>
            <a:endParaRPr sz="800" b="0">
              <a:solidFill>
                <a:srgbClr val="000000"/>
              </a:solidFill>
            </a:endParaRPr>
          </a:p>
        </p:txBody>
      </p:sp>
      <p:sp>
        <p:nvSpPr>
          <p:cNvPr id="191" name="Google Shape;191;p4"/>
          <p:cNvSpPr/>
          <p:nvPr/>
        </p:nvSpPr>
        <p:spPr>
          <a:xfrm>
            <a:off x="845376" y="34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Order 45 tracked: 2 items, 20,092.50 USD, not yet delivered</a:t>
            </a:r>
            <a:endParaRPr sz="800" b="0">
              <a:solidFill>
                <a:srgbClr val="000000"/>
              </a:solidFill>
            </a:endParaRPr>
          </a:p>
        </p:txBody>
      </p:sp>
      <p:sp>
        <p:nvSpPr>
          <p:cNvPr id="193" name="Google Shape;193;p4"/>
          <p:cNvSpPr/>
          <p:nvPr/>
        </p:nvSpPr>
        <p:spPr>
          <a:xfrm>
            <a:off x="7380037" y="34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Goods issue 4900038079 (10/03/2026) | FI JE 4900024042 (WL)</a:t>
            </a:r>
            <a:endParaRPr sz="800" b="0">
              <a:solidFill>
                <a:srgbClr val="000000"/>
              </a:solidFill>
            </a:endParaRPr>
          </a:p>
        </p:txBody>
      </p:sp>
      <p:sp>
        <p:nvSpPr>
          <p:cNvPr id="195" name="Google Shape;195;p4"/>
          <p:cNvSpPr/>
          <p:nvPr/>
        </p:nvSpPr>
        <p:spPr>
          <a:xfrm>
            <a:off x="9328423" y="34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Stock after: Deluxe 90 EA, Professional 76 EA (FG00)</a:t>
            </a:r>
            <a:endParaRPr sz="800" b="0">
              <a:solidFill>
                <a:srgbClr val="000000"/>
              </a:solidFill>
            </a:endParaRPr>
          </a:p>
        </p:txBody>
      </p:sp>
      <p:sp>
        <p:nvSpPr>
          <p:cNvPr id="197" name="Google Shape;197;p4"/>
          <p:cNvSpPr/>
          <p:nvPr/>
        </p:nvSpPr>
        <p:spPr>
          <a:xfrm>
            <a:off x="657548" y="49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Invoice 90000032 | 20,092.50 USD | 10/03/2026</a:t>
            </a:r>
            <a:endParaRPr sz="800" b="0">
              <a:solidFill>
                <a:srgbClr val="000000"/>
              </a:solidFill>
            </a:endParaRPr>
          </a:p>
        </p:txBody>
      </p:sp>
      <p:sp>
        <p:nvSpPr>
          <p:cNvPr id="198" name="Google Shape;198;p4"/>
          <p:cNvSpPr/>
          <p:nvPr/>
        </p:nvSpPr>
        <p:spPr>
          <a:xfrm>
            <a:off x="3339629" y="4930000"/>
            <a:ext cx="2472501"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Billing doc 90000032 posted to accounting | FI JE 90000030 (RV)</a:t>
            </a:r>
            <a:endParaRPr sz="800" b="0">
              <a:solidFill>
                <a:srgbClr val="000000"/>
              </a:solidFill>
            </a:endParaRPr>
          </a:p>
        </p:txBody>
      </p:sp>
      <p:sp>
        <p:nvSpPr>
          <p:cNvPr id="199" name="Google Shape;199;p4"/>
          <p:cNvSpPr/>
          <p:nvPr/>
        </p:nvSpPr>
        <p:spPr>
          <a:xfrm>
            <a:off x="6180498" y="49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Customer payment 20,092.50 USD | FI JE 1400000030 (DZ)</a:t>
            </a:r>
            <a:endParaRPr sz="800" b="0">
              <a:solidFill>
                <a:srgbClr val="000000"/>
              </a:solidFill>
            </a:endParaRPr>
          </a:p>
        </p:txBody>
      </p:sp>
      <p:sp>
        <p:nvSpPr>
          <p:cNvPr id="200" name="Google Shape;200;p4"/>
          <p:cNvSpPr/>
          <p:nvPr/>
        </p:nvSpPr>
        <p:spPr>
          <a:xfrm>
            <a:off x="7964745" y="49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Inquiry &gt; Quotation &gt; Order 45 &gt; Delivery &gt; GI &gt; Invoice &gt; FI</a:t>
            </a:r>
            <a:endParaRPr sz="800" b="0">
              <a:solidFill>
                <a:srgbClr val="000000"/>
              </a:solidFill>
            </a:endParaRPr>
          </a:p>
        </p:txBody>
      </p:sp>
      <p:sp>
        <p:nvSpPr>
          <p:cNvPr id="44" name="Google Shape;177;p4"/>
          <p:cNvSpPr/>
          <p:nvPr/>
        </p:nvSpPr>
        <p:spPr>
          <a:xfrm>
            <a:off x="4901401" y="4021102"/>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8. Track Sales Order</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5" name="Google Shape;191;p4"/>
          <p:cNvSpPr/>
          <p:nvPr/>
        </p:nvSpPr>
        <p:spPr>
          <a:xfrm>
            <a:off x="5104553" y="34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Order 45: delivery 80000042 created, goods issue pending</a:t>
            </a:r>
            <a:endParaRPr sz="800" b="0">
              <a:solidFill>
                <a:srgbClr val="000000"/>
              </a:solidFill>
            </a:endParaRPr>
          </a:p>
        </p:txBody>
      </p:sp>
      <p:sp>
        <p:nvSpPr>
          <p:cNvPr id="48" name="Google Shape;177;p4"/>
          <p:cNvSpPr/>
          <p:nvPr/>
        </p:nvSpPr>
        <p:spPr>
          <a:xfrm>
            <a:off x="2613843" y="3997043"/>
            <a:ext cx="2001313" cy="811646"/>
          </a:xfrm>
          <a:prstGeom prst="chevron">
            <a:avLst>
              <a:gd name="adj" fmla="val 50000"/>
            </a:avLst>
          </a:prstGeom>
          <a:solidFill>
            <a:srgbClr val="00328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rgbClr val="FFDF93"/>
                </a:solidFill>
                <a:latin typeface="Arial" panose="020B0604020202020204"/>
                <a:ea typeface="Arial" panose="020B0604020202020204"/>
                <a:cs typeface="Arial" panose="020B0604020202020204"/>
                <a:sym typeface="Arial" panose="020B0604020202020204"/>
              </a:rPr>
              <a:t>7. Start Delivery Process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191;p4"/>
          <p:cNvSpPr/>
          <p:nvPr/>
        </p:nvSpPr>
        <p:spPr>
          <a:xfrm>
            <a:off x="2816995" y="3430000"/>
            <a:ext cx="1554758" cy="520000"/>
          </a:xfrm>
          <a:prstGeom prst="rect">
            <a:avLst/>
          </a:prstGeom>
          <a:solidFill>
            <a:schemeClr val="lt1"/>
          </a:solidFill>
          <a:ln w="9525" cap="flat" cmpd="sng">
            <a:solidFill>
              <a:srgbClr val="002060"/>
            </a:solidFill>
            <a:prstDash val="solid"/>
            <a:round/>
            <a:headEnd type="none" w="sm" len="sm"/>
            <a:tailEnd type="none" w="sm" len="sm"/>
          </a:ln>
          <a:effectLst>
            <a:outerShdw blurRad="190500" dist="228600" dir="2700000" algn="ctr">
              <a:srgbClr val="000000">
                <a:alpha val="29411"/>
              </a:srgbClr>
            </a:outerShdw>
          </a:effectLst>
        </p:spPr>
        <p:txBody>
          <a:bodyPr spcFirstLastPara="1" wrap="square" lIns="30000" tIns="10000" rIns="30000" bIns="10000" anchor="ctr" anchorCtr="0">
            <a:noAutofit/>
          </a:bodyPr>
          <a:lstStyle/>
          <a:p>
            <a:pPr algn="ctr"/>
            <a:r>
              <a:rPr sz="800" b="0">
                <a:solidFill>
                  <a:srgbClr val="000000"/>
                </a:solidFill>
              </a:rPr>
              <a:t>Delivery 80000042 | Shipping point MI00 | Delivery date 10/11/2026</a:t>
            </a:r>
            <a:endParaRPr sz="800" b="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 calcmode="lin" valueType="num">
                                      <p:cBhvr additive="base">
                                        <p:cTn id="7" dur="500"/>
                                        <p:tgtEl>
                                          <p:spTgt spid="15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63"/>
                                        </p:tgtEl>
                                        <p:attrNameLst>
                                          <p:attrName>style.visibility</p:attrName>
                                        </p:attrNameLst>
                                      </p:cBhvr>
                                      <p:to>
                                        <p:strVal val="visible"/>
                                      </p:to>
                                    </p:set>
                                    <p:anim calcmode="lin" valueType="num">
                                      <p:cBhvr additive="base">
                                        <p:cTn id="12" dur="500"/>
                                        <p:tgtEl>
                                          <p:spTgt spid="16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64"/>
                                        </p:tgtEl>
                                        <p:attrNameLst>
                                          <p:attrName>style.visibility</p:attrName>
                                        </p:attrNameLst>
                                      </p:cBhvr>
                                      <p:to>
                                        <p:strVal val="visible"/>
                                      </p:to>
                                    </p:set>
                                    <p:anim calcmode="lin" valueType="num">
                                      <p:cBhvr additive="base">
                                        <p:cTn id="17" dur="500"/>
                                        <p:tgtEl>
                                          <p:spTgt spid="164"/>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2"/>
                                        </p:tgtEl>
                                        <p:attrNameLst>
                                          <p:attrName>style.visibility</p:attrName>
                                        </p:attrNameLst>
                                      </p:cBhvr>
                                      <p:to>
                                        <p:strVal val="visible"/>
                                      </p:to>
                                    </p:set>
                                    <p:animEffect transition="in" filter="fade">
                                      <p:cBhvr>
                                        <p:cTn id="22" dur="2000"/>
                                        <p:tgtEl>
                                          <p:spTgt spid="172"/>
                                        </p:tgtEl>
                                      </p:cBhvr>
                                    </p:animEffect>
                                  </p:childTnLst>
                                </p:cTn>
                              </p:par>
                              <p:par>
                                <p:cTn id="23" presetID="10" presetClass="entr" presetSubtype="0" fill="hold" nodeType="withEffect">
                                  <p:stCondLst>
                                    <p:cond delay="0"/>
                                  </p:stCondLst>
                                  <p:childTnLst>
                                    <p:set>
                                      <p:cBhvr>
                                        <p:cTn id="24" dur="1" fill="hold">
                                          <p:stCondLst>
                                            <p:cond delay="0"/>
                                          </p:stCondLst>
                                        </p:cTn>
                                        <p:tgtEl>
                                          <p:spTgt spid="173"/>
                                        </p:tgtEl>
                                        <p:attrNameLst>
                                          <p:attrName>style.visibility</p:attrName>
                                        </p:attrNameLst>
                                      </p:cBhvr>
                                      <p:to>
                                        <p:strVal val="visible"/>
                                      </p:to>
                                    </p:set>
                                    <p:animEffect transition="in" filter="fade">
                                      <p:cBhvr>
                                        <p:cTn id="25" dur="2000"/>
                                        <p:tgtEl>
                                          <p:spTgt spid="17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65"/>
                                        </p:tgtEl>
                                        <p:attrNameLst>
                                          <p:attrName>style.visibility</p:attrName>
                                        </p:attrNameLst>
                                      </p:cBhvr>
                                      <p:to>
                                        <p:strVal val="visible"/>
                                      </p:to>
                                    </p:set>
                                    <p:anim calcmode="lin" valueType="num">
                                      <p:cBhvr additive="base">
                                        <p:cTn id="30" dur="500"/>
                                        <p:tgtEl>
                                          <p:spTgt spid="165"/>
                                        </p:tgtEl>
                                        <p:attrNameLst>
                                          <p:attrName>ppt_x</p:attrName>
                                        </p:attrNameLst>
                                      </p:cBhvr>
                                      <p:tavLst>
                                        <p:tav tm="0">
                                          <p:val>
                                            <p:strVal val="#ppt_x-1"/>
                                          </p:val>
                                        </p:tav>
                                        <p:tav tm="100000">
                                          <p:val>
                                            <p:strVal val="#ppt_x"/>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0"/>
                                        </p:tgtEl>
                                        <p:attrNameLst>
                                          <p:attrName>style.visibility</p:attrName>
                                        </p:attrNameLst>
                                      </p:cBhvr>
                                      <p:to>
                                        <p:strVal val="visible"/>
                                      </p:to>
                                    </p:set>
                                    <p:animEffect transition="in" filter="fade">
                                      <p:cBhvr>
                                        <p:cTn id="35" dur="2000"/>
                                        <p:tgtEl>
                                          <p:spTgt spid="170"/>
                                        </p:tgtEl>
                                      </p:cBhvr>
                                    </p:animEffect>
                                  </p:childTnLst>
                                </p:cTn>
                              </p:par>
                              <p:par>
                                <p:cTn id="36" presetID="10" presetClass="entr" presetSubtype="0" fill="hold" nodeType="withEffect">
                                  <p:stCondLst>
                                    <p:cond delay="0"/>
                                  </p:stCondLst>
                                  <p:childTnLst>
                                    <p:set>
                                      <p:cBhvr>
                                        <p:cTn id="37" dur="1" fill="hold">
                                          <p:stCondLst>
                                            <p:cond delay="0"/>
                                          </p:stCondLst>
                                        </p:cTn>
                                        <p:tgtEl>
                                          <p:spTgt spid="171"/>
                                        </p:tgtEl>
                                        <p:attrNameLst>
                                          <p:attrName>style.visibility</p:attrName>
                                        </p:attrNameLst>
                                      </p:cBhvr>
                                      <p:to>
                                        <p:strVal val="visible"/>
                                      </p:to>
                                    </p:set>
                                    <p:animEffect transition="in" filter="fade">
                                      <p:cBhvr>
                                        <p:cTn id="38" dur="2000"/>
                                        <p:tgtEl>
                                          <p:spTgt spid="171"/>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166"/>
                                        </p:tgtEl>
                                        <p:attrNameLst>
                                          <p:attrName>style.visibility</p:attrName>
                                        </p:attrNameLst>
                                      </p:cBhvr>
                                      <p:to>
                                        <p:strVal val="visible"/>
                                      </p:to>
                                    </p:set>
                                    <p:anim calcmode="lin" valueType="num">
                                      <p:cBhvr additive="base">
                                        <p:cTn id="43" dur="500"/>
                                        <p:tgtEl>
                                          <p:spTgt spid="16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167"/>
                                        </p:tgtEl>
                                        <p:attrNameLst>
                                          <p:attrName>style.visibility</p:attrName>
                                        </p:attrNameLst>
                                      </p:cBhvr>
                                      <p:to>
                                        <p:strVal val="visible"/>
                                      </p:to>
                                    </p:set>
                                    <p:anim calcmode="lin" valueType="num">
                                      <p:cBhvr additive="base">
                                        <p:cTn id="48" dur="500"/>
                                        <p:tgtEl>
                                          <p:spTgt spid="167"/>
                                        </p:tgtEl>
                                        <p:attrNameLst>
                                          <p:attrName>ppt_x</p:attrName>
                                        </p:attrNameLst>
                                      </p:cBhvr>
                                      <p:tavLst>
                                        <p:tav tm="0">
                                          <p:val>
                                            <p:strVal val="#ppt_x-1"/>
                                          </p:val>
                                        </p:tav>
                                        <p:tav tm="100000">
                                          <p:val>
                                            <p:strVal val="#ppt_x"/>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168"/>
                                        </p:tgtEl>
                                        <p:attrNameLst>
                                          <p:attrName>style.visibility</p:attrName>
                                        </p:attrNameLst>
                                      </p:cBhvr>
                                      <p:to>
                                        <p:strVal val="visible"/>
                                      </p:to>
                                    </p:set>
                                    <p:anim calcmode="lin" valueType="num">
                                      <p:cBhvr additive="base">
                                        <p:cTn id="53" dur="500"/>
                                        <p:tgtEl>
                                          <p:spTgt spid="168"/>
                                        </p:tgtEl>
                                        <p:attrNameLst>
                                          <p:attrName>ppt_x</p:attrName>
                                        </p:attrNameLst>
                                      </p:cBhvr>
                                      <p:tavLst>
                                        <p:tav tm="0">
                                          <p:val>
                                            <p:strVal val="#ppt_x-1"/>
                                          </p:val>
                                        </p:tav>
                                        <p:tav tm="100000">
                                          <p:val>
                                            <p:strVal val="#ppt_x"/>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nodeType="clickEffect">
                                  <p:stCondLst>
                                    <p:cond delay="0"/>
                                  </p:stCondLst>
                                  <p:childTnLst>
                                    <p:set>
                                      <p:cBhvr>
                                        <p:cTn id="57" dur="1" fill="hold">
                                          <p:stCondLst>
                                            <p:cond delay="0"/>
                                          </p:stCondLst>
                                        </p:cTn>
                                        <p:tgtEl>
                                          <p:spTgt spid="169"/>
                                        </p:tgtEl>
                                        <p:attrNameLst>
                                          <p:attrName>style.visibility</p:attrName>
                                        </p:attrNameLst>
                                      </p:cBhvr>
                                      <p:to>
                                        <p:strVal val="visible"/>
                                      </p:to>
                                    </p:set>
                                    <p:anim calcmode="lin" valueType="num">
                                      <p:cBhvr additive="base">
                                        <p:cTn id="58" dur="500"/>
                                        <p:tgtEl>
                                          <p:spTgt spid="169"/>
                                        </p:tgtEl>
                                        <p:attrNameLst>
                                          <p:attrName>ppt_x</p:attrName>
                                        </p:attrNameLst>
                                      </p:cBhvr>
                                      <p:tavLst>
                                        <p:tav tm="0">
                                          <p:val>
                                            <p:strVal val="#ppt_x-1"/>
                                          </p:val>
                                        </p:tav>
                                        <p:tav tm="100000">
                                          <p:val>
                                            <p:strVal val="#ppt_x"/>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1" fill="hold" nodeType="clickEffect">
                                  <p:stCondLst>
                                    <p:cond delay="0"/>
                                  </p:stCondLst>
                                  <p:childTnLst>
                                    <p:set>
                                      <p:cBhvr>
                                        <p:cTn id="62" dur="1" fill="hold">
                                          <p:stCondLst>
                                            <p:cond delay="0"/>
                                          </p:stCondLst>
                                        </p:cTn>
                                        <p:tgtEl>
                                          <p:spTgt spid="174"/>
                                        </p:tgtEl>
                                        <p:attrNameLst>
                                          <p:attrName>style.visibility</p:attrName>
                                        </p:attrNameLst>
                                      </p:cBhvr>
                                      <p:to>
                                        <p:strVal val="visible"/>
                                      </p:to>
                                    </p:set>
                                    <p:anim calcmode="lin" valueType="num">
                                      <p:cBhvr additive="base">
                                        <p:cTn id="63" dur="500"/>
                                        <p:tgtEl>
                                          <p:spTgt spid="17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1" fill="hold" nodeType="clickEffect">
                                  <p:stCondLst>
                                    <p:cond delay="0"/>
                                  </p:stCondLst>
                                  <p:childTnLst>
                                    <p:set>
                                      <p:cBhvr>
                                        <p:cTn id="67" dur="1" fill="hold">
                                          <p:stCondLst>
                                            <p:cond delay="0"/>
                                          </p:stCondLst>
                                        </p:cTn>
                                        <p:tgtEl>
                                          <p:spTgt spid="175"/>
                                        </p:tgtEl>
                                        <p:attrNameLst>
                                          <p:attrName>style.visibility</p:attrName>
                                        </p:attrNameLst>
                                      </p:cBhvr>
                                      <p:to>
                                        <p:strVal val="visible"/>
                                      </p:to>
                                    </p:set>
                                    <p:anim calcmode="lin" valueType="num">
                                      <p:cBhvr additive="base">
                                        <p:cTn id="68" dur="500"/>
                                        <p:tgtEl>
                                          <p:spTgt spid="17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1" fill="hold" nodeType="clickEffect">
                                  <p:stCondLst>
                                    <p:cond delay="0"/>
                                  </p:stCondLst>
                                  <p:childTnLst>
                                    <p:set>
                                      <p:cBhvr>
                                        <p:cTn id="72" dur="1" fill="hold">
                                          <p:stCondLst>
                                            <p:cond delay="0"/>
                                          </p:stCondLst>
                                        </p:cTn>
                                        <p:tgtEl>
                                          <p:spTgt spid="176"/>
                                        </p:tgtEl>
                                        <p:attrNameLst>
                                          <p:attrName>style.visibility</p:attrName>
                                        </p:attrNameLst>
                                      </p:cBhvr>
                                      <p:to>
                                        <p:strVal val="visible"/>
                                      </p:to>
                                    </p:set>
                                    <p:anim calcmode="lin" valueType="num">
                                      <p:cBhvr additive="base">
                                        <p:cTn id="73" dur="500"/>
                                        <p:tgtEl>
                                          <p:spTgt spid="176"/>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177"/>
                                        </p:tgtEl>
                                        <p:attrNameLst>
                                          <p:attrName>style.visibility</p:attrName>
                                        </p:attrNameLst>
                                      </p:cBhvr>
                                      <p:to>
                                        <p:strVal val="visible"/>
                                      </p:to>
                                    </p:set>
                                    <p:anim calcmode="lin" valueType="num">
                                      <p:cBhvr additive="base">
                                        <p:cTn id="78" dur="500"/>
                                        <p:tgtEl>
                                          <p:spTgt spid="177"/>
                                        </p:tgtEl>
                                        <p:attrNameLst>
                                          <p:attrName>ppt_x</p:attrName>
                                        </p:attrNameLst>
                                      </p:cBhvr>
                                      <p:tavLst>
                                        <p:tav tm="0">
                                          <p:val>
                                            <p:strVal val="#ppt_x-1"/>
                                          </p:val>
                                        </p:tav>
                                        <p:tav tm="100000">
                                          <p:val>
                                            <p:strVal val="#ppt_x"/>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1" fill="hold" nodeType="clickEffect">
                                  <p:stCondLst>
                                    <p:cond delay="0"/>
                                  </p:stCondLst>
                                  <p:childTnLst>
                                    <p:set>
                                      <p:cBhvr>
                                        <p:cTn id="82" dur="1" fill="hold">
                                          <p:stCondLst>
                                            <p:cond delay="0"/>
                                          </p:stCondLst>
                                        </p:cTn>
                                        <p:tgtEl>
                                          <p:spTgt spid="179"/>
                                        </p:tgtEl>
                                        <p:attrNameLst>
                                          <p:attrName>style.visibility</p:attrName>
                                        </p:attrNameLst>
                                      </p:cBhvr>
                                      <p:to>
                                        <p:strVal val="visible"/>
                                      </p:to>
                                    </p:set>
                                    <p:anim calcmode="lin" valueType="num">
                                      <p:cBhvr additive="base">
                                        <p:cTn id="83" dur="500"/>
                                        <p:tgtEl>
                                          <p:spTgt spid="179"/>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1" fill="hold" nodeType="clickEffect">
                                  <p:stCondLst>
                                    <p:cond delay="0"/>
                                  </p:stCondLst>
                                  <p:childTnLst>
                                    <p:set>
                                      <p:cBhvr>
                                        <p:cTn id="87" dur="1" fill="hold">
                                          <p:stCondLst>
                                            <p:cond delay="0"/>
                                          </p:stCondLst>
                                        </p:cTn>
                                        <p:tgtEl>
                                          <p:spTgt spid="181"/>
                                        </p:tgtEl>
                                        <p:attrNameLst>
                                          <p:attrName>style.visibility</p:attrName>
                                        </p:attrNameLst>
                                      </p:cBhvr>
                                      <p:to>
                                        <p:strVal val="visible"/>
                                      </p:to>
                                    </p:set>
                                    <p:anim calcmode="lin" valueType="num">
                                      <p:cBhvr additive="base">
                                        <p:cTn id="88" dur="500"/>
                                        <p:tgtEl>
                                          <p:spTgt spid="181"/>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8" fill="hold" nodeType="clickEffect">
                                  <p:stCondLst>
                                    <p:cond delay="0"/>
                                  </p:stCondLst>
                                  <p:childTnLst>
                                    <p:set>
                                      <p:cBhvr>
                                        <p:cTn id="92" dur="1" fill="hold">
                                          <p:stCondLst>
                                            <p:cond delay="0"/>
                                          </p:stCondLst>
                                        </p:cTn>
                                        <p:tgtEl>
                                          <p:spTgt spid="183"/>
                                        </p:tgtEl>
                                        <p:attrNameLst>
                                          <p:attrName>style.visibility</p:attrName>
                                        </p:attrNameLst>
                                      </p:cBhvr>
                                      <p:to>
                                        <p:strVal val="visible"/>
                                      </p:to>
                                    </p:set>
                                    <p:anim calcmode="lin" valueType="num">
                                      <p:cBhvr additive="base">
                                        <p:cTn id="93" dur="500"/>
                                        <p:tgtEl>
                                          <p:spTgt spid="183"/>
                                        </p:tgtEl>
                                        <p:attrNameLst>
                                          <p:attrName>ppt_x</p:attrName>
                                        </p:attrNameLst>
                                      </p:cBhvr>
                                      <p:tavLst>
                                        <p:tav tm="0">
                                          <p:val>
                                            <p:strVal val="#ppt_x-1"/>
                                          </p:val>
                                        </p:tav>
                                        <p:tav tm="100000">
                                          <p:val>
                                            <p:strVal val="#ppt_x"/>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8" fill="hold" nodeType="clickEffect">
                                  <p:stCondLst>
                                    <p:cond delay="0"/>
                                  </p:stCondLst>
                                  <p:childTnLst>
                                    <p:set>
                                      <p:cBhvr>
                                        <p:cTn id="97" dur="1" fill="hold">
                                          <p:stCondLst>
                                            <p:cond delay="0"/>
                                          </p:stCondLst>
                                        </p:cTn>
                                        <p:tgtEl>
                                          <p:spTgt spid="44"/>
                                        </p:tgtEl>
                                        <p:attrNameLst>
                                          <p:attrName>style.visibility</p:attrName>
                                        </p:attrNameLst>
                                      </p:cBhvr>
                                      <p:to>
                                        <p:strVal val="visible"/>
                                      </p:to>
                                    </p:set>
                                    <p:anim calcmode="lin" valueType="num">
                                      <p:cBhvr additive="base">
                                        <p:cTn id="98" dur="500"/>
                                        <p:tgtEl>
                                          <p:spTgt spid="44"/>
                                        </p:tgtEl>
                                        <p:attrNameLst>
                                          <p:attrName>ppt_x</p:attrName>
                                        </p:attrNameLst>
                                      </p:cBhvr>
                                      <p:tavLst>
                                        <p:tav tm="0">
                                          <p:val>
                                            <p:strVal val="#ppt_x-1"/>
                                          </p:val>
                                        </p:tav>
                                        <p:tav tm="100000">
                                          <p:val>
                                            <p:strVal val="#ppt_x"/>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nodeType="clickEffect">
                                  <p:stCondLst>
                                    <p:cond delay="0"/>
                                  </p:stCondLst>
                                  <p:childTnLst>
                                    <p:set>
                                      <p:cBhvr>
                                        <p:cTn id="102" dur="1" fill="hold">
                                          <p:stCondLst>
                                            <p:cond delay="0"/>
                                          </p:stCondLst>
                                        </p:cTn>
                                        <p:tgtEl>
                                          <p:spTgt spid="48"/>
                                        </p:tgtEl>
                                        <p:attrNameLst>
                                          <p:attrName>style.visibility</p:attrName>
                                        </p:attrNameLst>
                                      </p:cBhvr>
                                      <p:to>
                                        <p:strVal val="visible"/>
                                      </p:to>
                                    </p:set>
                                    <p:anim calcmode="lin" valueType="num">
                                      <p:cBhvr additive="base">
                                        <p:cTn id="103" dur="500"/>
                                        <p:tgtEl>
                                          <p:spTgt spid="4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6"/>
          <p:cNvSpPr txBox="1">
            <a:spLocks noGrp="1"/>
          </p:cNvSpPr>
          <p:nvPr>
            <p:ph type="title"/>
          </p:nvPr>
        </p:nvSpPr>
        <p:spPr>
          <a:xfrm>
            <a:off x="366864" y="324075"/>
            <a:ext cx="8305650" cy="75617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accent2"/>
              </a:buClr>
              <a:buSzPts val="2800"/>
              <a:buFont typeface="Arial" panose="020B0604020202020204"/>
              <a:buNone/>
            </a:pPr>
            <a:r>
              <a:rPr lang="en-US" dirty="0"/>
              <a:t>b. Data Types Matrix (5 Marks)</a:t>
            </a:r>
            <a:endParaRPr dirty="0"/>
          </a:p>
        </p:txBody>
      </p:sp>
      <p:graphicFrame>
        <p:nvGraphicFramePr>
          <p:cNvPr id="212" name="Google Shape;212;p6"/>
          <p:cNvGraphicFramePr/>
          <p:nvPr/>
        </p:nvGraphicFramePr>
        <p:xfrm>
          <a:off x="504116" y="1413158"/>
          <a:ext cx="11365100" cy="4363685"/>
        </p:xfrm>
        <a:graphic>
          <a:graphicData uri="http://schemas.openxmlformats.org/drawingml/2006/table">
            <a:tbl>
              <a:tblPr firstRow="1" bandRow="1">
                <a:solidFill>
                  <a:schemeClr val="accent1"/>
                </a:solidFill>
                <a:tableStyleId>{5B97E2F3-CA36-4D48-8C1F-CC93C5A3E463}</a:tableStyleId>
              </a:tblPr>
              <a:tblGrid>
                <a:gridCol w="2841275"/>
                <a:gridCol w="2841275"/>
                <a:gridCol w="2841275"/>
                <a:gridCol w="2841275"/>
              </a:tblGrid>
              <a:tr h="58412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Data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SD</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MM</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FI</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r>
              <a:tr h="607375">
                <a:tc>
                  <a:txBody>
                    <a:bodyPr/>
                    <a:lstStyle/>
                    <a:p>
                      <a:pPr marL="0" marR="0" lvl="0" indent="0" algn="l" rtl="0">
                        <a:lnSpc>
                          <a:spcPct val="100000"/>
                        </a:lnSpc>
                        <a:spcBef>
                          <a:spcPts val="0"/>
                        </a:spcBef>
                        <a:spcAft>
                          <a:spcPts val="0"/>
                        </a:spcAft>
                        <a:buClr>
                          <a:srgbClr val="002060"/>
                        </a:buClr>
                        <a:buSzPts val="1400"/>
                        <a:buFont typeface="Arial" panose="020B0604020202020204"/>
                        <a:buNone/>
                      </a:pPr>
                      <a:r>
                        <a:rPr lang="en-US" sz="1400" b="1" u="none" strike="noStrike" cap="none">
                          <a:solidFill>
                            <a:srgbClr val="002060"/>
                          </a:solidFill>
                        </a:rPr>
                        <a:t>Organizational Data</a:t>
                      </a:r>
                      <a:endParaRPr sz="1400" u="none" strike="noStrike" cap="none"/>
                    </a:p>
                    <a:p>
                      <a:pPr marL="0" marR="0" lvl="0" indent="0" algn="l" rtl="0">
                        <a:lnSpc>
                          <a:spcPct val="100000"/>
                        </a:lnSpc>
                        <a:spcBef>
                          <a:spcPts val="0"/>
                        </a:spcBef>
                        <a:spcAft>
                          <a:spcPts val="0"/>
                        </a:spcAft>
                        <a:buClr>
                          <a:schemeClr val="dk1"/>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chemeClr val="dk1"/>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chemeClr val="dk1"/>
                        </a:buClr>
                        <a:buSzPts val="1400"/>
                        <a:buFont typeface="Arial" panose="020B0604020202020204"/>
                        <a:buNone/>
                      </a:pPr>
                      <a:endParaRPr sz="1400" b="1" u="none" strike="noStrike" cap="none">
                        <a:solidFill>
                          <a:srgbClr val="00206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Sales Org: US East (UE00)</a:t>
                      </a:r>
                      <a:endParaRPr lang="en-US" sz="1100" b="0">
                        <a:solidFill>
                          <a:srgbClr val="000000"/>
                        </a:solidFill>
                      </a:endParaRPr>
                    </a:p>
                    <a:p>
                      <a:pPr marL="0" indent="0" algn="l">
                        <a:spcAft>
                          <a:spcPts val="200"/>
                        </a:spcAft>
                        <a:buNone/>
                      </a:pPr>
                      <a:r>
                        <a:rPr lang="en-US" sz="1100" b="0">
                          <a:solidFill>
                            <a:srgbClr val="000000"/>
                          </a:solidFill>
                        </a:rPr>
                        <a:t>Distribution Channel: Wholesale (WH)</a:t>
                      </a:r>
                      <a:endParaRPr lang="en-US" sz="1100" b="0">
                        <a:solidFill>
                          <a:srgbClr val="000000"/>
                        </a:solidFill>
                      </a:endParaRPr>
                    </a:p>
                    <a:p>
                      <a:pPr marL="0" indent="0" algn="l">
                        <a:spcAft>
                          <a:spcPts val="200"/>
                        </a:spcAft>
                        <a:buNone/>
                      </a:pPr>
                      <a:r>
                        <a:rPr lang="en-US" sz="1100" b="0">
                          <a:solidFill>
                            <a:srgbClr val="000000"/>
                          </a:solidFill>
                        </a:rPr>
                        <a:t>Division: Bicycles (BI)</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Plant: DC Miami (MI00)</a:t>
                      </a:r>
                      <a:endParaRPr lang="en-US" sz="1100" b="0">
                        <a:solidFill>
                          <a:srgbClr val="000000"/>
                        </a:solidFill>
                      </a:endParaRPr>
                    </a:p>
                    <a:p>
                      <a:pPr marL="0" indent="0" algn="l">
                        <a:spcAft>
                          <a:spcPts val="200"/>
                        </a:spcAft>
                        <a:buNone/>
                      </a:pPr>
                      <a:r>
                        <a:rPr lang="en-US" sz="1100" b="0">
                          <a:solidFill>
                            <a:srgbClr val="000000"/>
                          </a:solidFill>
                        </a:rPr>
                        <a:t>Storage Location: Finished Goods (FG00)</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Company Code: Global Bike Inc. (US00)</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r>
              <a:tr h="58412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Master Data</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Customer master of the sold-to / payer party</a:t>
                      </a:r>
                      <a:endParaRPr lang="en-US" sz="1100" b="0">
                        <a:solidFill>
                          <a:srgbClr val="000000"/>
                        </a:solidFill>
                      </a:endParaRPr>
                    </a:p>
                    <a:p>
                      <a:pPr marL="0" indent="0" algn="l">
                        <a:spcAft>
                          <a:spcPts val="200"/>
                        </a:spcAft>
                        <a:buNone/>
                      </a:pPr>
                      <a:r>
                        <a:rPr lang="en-US" sz="1100" b="0">
                          <a:solidFill>
                            <a:srgbClr val="000000"/>
                          </a:solidFill>
                        </a:rPr>
                        <a:t>Material sales data (pricing, delivery plant)</a:t>
                      </a:r>
                      <a:endParaRPr lang="en-US" sz="1100" b="0">
                        <a:solidFill>
                          <a:srgbClr val="000000"/>
                        </a:solidFill>
                      </a:endParaRPr>
                    </a:p>
                    <a:p>
                      <a:pPr marL="0" indent="0" algn="l">
                        <a:spcAft>
                          <a:spcPts val="200"/>
                        </a:spcAft>
                        <a:buNone/>
                      </a:pPr>
                      <a:r>
                        <a:rPr lang="en-US" sz="1100" b="0">
                          <a:solidFill>
                            <a:srgbClr val="000000"/>
                          </a:solidFill>
                        </a:rPr>
                        <a:t>Pricing condition records (K004, RA00)</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Material master of the two bikes (plant and storage views, weights)</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Customer account in accounts receivable</a:t>
                      </a:r>
                      <a:endParaRPr lang="en-US" sz="1100" b="0">
                        <a:solidFill>
                          <a:srgbClr val="000000"/>
                        </a:solidFill>
                      </a:endParaRPr>
                    </a:p>
                    <a:p>
                      <a:pPr marL="0" indent="0" algn="l">
                        <a:spcAft>
                          <a:spcPts val="200"/>
                        </a:spcAft>
                        <a:buNone/>
                      </a:pPr>
                      <a:r>
                        <a:rPr lang="en-US" sz="1100" b="0">
                          <a:solidFill>
                            <a:srgbClr val="000000"/>
                          </a:solidFill>
                        </a:rPr>
                        <a:t>G/L accounts: inventory, cost of goods sold, revenue, receivables, bank</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r>
              <a:tr h="58412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Transactional Data</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Inquiry, quotation, sales order</a:t>
                      </a:r>
                      <a:endParaRPr lang="en-US" sz="1100" b="0">
                        <a:solidFill>
                          <a:srgbClr val="000000"/>
                        </a:solidFill>
                      </a:endParaRPr>
                    </a:p>
                    <a:p>
                      <a:pPr marL="0" indent="0" algn="l">
                        <a:spcAft>
                          <a:spcPts val="200"/>
                        </a:spcAft>
                        <a:buNone/>
                      </a:pPr>
                      <a:r>
                        <a:rPr lang="en-US" sz="1100" b="0">
                          <a:solidFill>
                            <a:srgbClr val="000000"/>
                          </a:solidFill>
                        </a:rPr>
                        <a:t>Outbound delivery</a:t>
                      </a:r>
                      <a:endParaRPr lang="en-US" sz="1100" b="0">
                        <a:solidFill>
                          <a:srgbClr val="000000"/>
                        </a:solidFill>
                      </a:endParaRPr>
                    </a:p>
                    <a:p>
                      <a:pPr marL="0" indent="0" algn="l">
                        <a:spcAft>
                          <a:spcPts val="200"/>
                        </a:spcAft>
                        <a:buNone/>
                      </a:pPr>
                      <a:r>
                        <a:rPr lang="en-US" sz="1100" b="0">
                          <a:solidFill>
                            <a:srgbClr val="000000"/>
                          </a:solidFill>
                        </a:rPr>
                        <a:t>Billing document (invoice)</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Goods issue as a material document</a:t>
                      </a:r>
                      <a:endParaRPr lang="en-US" sz="1100" b="0">
                        <a:solidFill>
                          <a:srgbClr val="000000"/>
                        </a:solidFill>
                      </a:endParaRPr>
                    </a:p>
                    <a:p>
                      <a:pPr marL="0" indent="0" algn="l">
                        <a:spcAft>
                          <a:spcPts val="200"/>
                        </a:spcAft>
                        <a:buNone/>
                      </a:pPr>
                      <a:r>
                        <a:rPr lang="en-US" sz="1100" b="0">
                          <a:solidFill>
                            <a:srgbClr val="000000"/>
                          </a:solidFill>
                        </a:rPr>
                        <a:t>Stock reduction in FG00</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Journal entries for goods issue, billing and customer payment</a:t>
                      </a:r>
                      <a:endParaRPr lang="en-US" sz="1100" b="0">
                        <a:solidFill>
                          <a:srgbClr val="000000"/>
                        </a:solidFill>
                      </a:endParaRPr>
                    </a:p>
                    <a:p>
                      <a:pPr marL="0" indent="0" algn="l">
                        <a:spcAft>
                          <a:spcPts val="200"/>
                        </a:spcAft>
                        <a:buNone/>
                      </a:pPr>
                      <a:r>
                        <a:rPr lang="en-US" sz="1100" b="0">
                          <a:solidFill>
                            <a:srgbClr val="000000"/>
                          </a:solidFill>
                        </a:rPr>
                        <a:t>Clearing of the customer open item</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r>
              <a:tr h="58412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u="none" strike="noStrike" cap="none">
                          <a:solidFill>
                            <a:srgbClr val="002060"/>
                          </a:solidFill>
                        </a:rPr>
                        <a:t>Situational Data</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1" u="none" strike="noStrike" cap="none">
                        <a:solidFill>
                          <a:srgbClr val="00206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Ordered quantities and requested delivery dates</a:t>
                      </a:r>
                      <a:endParaRPr lang="en-US" sz="1100" b="0">
                        <a:solidFill>
                          <a:srgbClr val="000000"/>
                        </a:solidFill>
                      </a:endParaRPr>
                    </a:p>
                    <a:p>
                      <a:pPr marL="0" indent="0" algn="l">
                        <a:spcAft>
                          <a:spcPts val="200"/>
                        </a:spcAft>
                        <a:buNone/>
                      </a:pPr>
                      <a:r>
                        <a:rPr lang="en-US" sz="1100" b="0">
                          <a:solidFill>
                            <a:srgbClr val="000000"/>
                          </a:solidFill>
                        </a:rPr>
                        <a:t>Manual discounts agreed with this customer</a:t>
                      </a:r>
                      <a:endParaRPr lang="en-US" sz="1100" b="0">
                        <a:solidFill>
                          <a:srgbClr val="000000"/>
                        </a:solidFill>
                      </a:endParaRPr>
                    </a:p>
                    <a:p>
                      <a:pPr marL="0" indent="0" algn="l">
                        <a:spcAft>
                          <a:spcPts val="200"/>
                        </a:spcAft>
                        <a:buNone/>
                      </a:pPr>
                      <a:r>
                        <a:rPr lang="en-US" sz="1100" b="0">
                          <a:solidFill>
                            <a:srgbClr val="000000"/>
                          </a:solidFill>
                        </a:rPr>
                        <a:t>Incoterms (FOB Miami) and payment terms</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Stock available at the time of ordering</a:t>
                      </a:r>
                      <a:endParaRPr lang="en-US" sz="1100" b="0">
                        <a:solidFill>
                          <a:srgbClr val="000000"/>
                        </a:solidFill>
                      </a:endParaRPr>
                    </a:p>
                    <a:p>
                      <a:pPr marL="0" indent="0" algn="l">
                        <a:spcAft>
                          <a:spcPts val="200"/>
                        </a:spcAft>
                        <a:buNone/>
                      </a:pPr>
                      <a:r>
                        <a:rPr lang="en-US" sz="1100" b="0">
                          <a:solidFill>
                            <a:srgbClr val="000000"/>
                          </a:solidFill>
                        </a:rPr>
                        <a:t>Picking status and shipping date</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c>
                  <a:txBody>
                    <a:bodyPr/>
                    <a:lstStyle/>
                    <a:p>
                      <a:pPr marL="0" indent="0" algn="l">
                        <a:spcAft>
                          <a:spcPts val="200"/>
                        </a:spcAft>
                        <a:buNone/>
                      </a:pPr>
                      <a:r>
                        <a:rPr lang="en-US" sz="1100" b="0">
                          <a:solidFill>
                            <a:srgbClr val="000000"/>
                          </a:solidFill>
                        </a:rPr>
                        <a:t>Payment date and amount actually received</a:t>
                      </a:r>
                      <a:endParaRPr lang="en-US" sz="1100" b="0">
                        <a:solidFill>
                          <a:srgbClr val="000000"/>
                        </a:solidFill>
                      </a:endParaRPr>
                    </a:p>
                    <a:p>
                      <a:pPr marL="0" indent="0" algn="l">
                        <a:spcAft>
                          <a:spcPts val="200"/>
                        </a:spcAft>
                        <a:buNone/>
                      </a:pPr>
                      <a:r>
                        <a:rPr lang="en-US" sz="1100" b="0">
                          <a:solidFill>
                            <a:srgbClr val="000000"/>
                          </a:solidFill>
                        </a:rPr>
                        <a:t>Whether the billing document is blocked or posted</a:t>
                      </a:r>
                      <a:endParaRPr lang="en-US" sz="1100" b="0">
                        <a:solidFill>
                          <a:srgbClr val="000000"/>
                        </a:solidFill>
                      </a:endParaRPr>
                    </a:p>
                  </a:txBody>
                  <a:tcPr marL="80000" marR="80000" marT="45725" marB="45725" anchor="t">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BC6"/>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
          <p:cNvSpPr txBox="1">
            <a:spLocks noGrp="1"/>
          </p:cNvSpPr>
          <p:nvPr>
            <p:ph type="title"/>
          </p:nvPr>
        </p:nvSpPr>
        <p:spPr>
          <a:xfrm>
            <a:off x="366864" y="324075"/>
            <a:ext cx="8310411" cy="75617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accent2"/>
              </a:buClr>
              <a:buSzPts val="2800"/>
              <a:buFont typeface="Arial" panose="020B0604020202020204"/>
              <a:buNone/>
            </a:pPr>
            <a:r>
              <a:rPr lang="en-US" dirty="0"/>
              <a:t>c. Roles &amp; KPIs (5 Marks)</a:t>
            </a:r>
            <a:endParaRPr dirty="0"/>
          </a:p>
        </p:txBody>
      </p:sp>
      <p:graphicFrame>
        <p:nvGraphicFramePr>
          <p:cNvPr id="218" name="Google Shape;218;p7"/>
          <p:cNvGraphicFramePr/>
          <p:nvPr/>
        </p:nvGraphicFramePr>
        <p:xfrm>
          <a:off x="506057" y="1450000"/>
          <a:ext cx="11333525" cy="4723130"/>
        </p:xfrm>
        <a:graphic>
          <a:graphicData uri="http://schemas.openxmlformats.org/drawingml/2006/table">
            <a:tbl>
              <a:tblPr firstRow="1" firstCol="1" bandRow="1">
                <a:noFill/>
                <a:tableStyleId>{EAD1E364-5ADF-428F-B036-55A4326203F2}</a:tableStyleId>
              </a:tblPr>
              <a:tblGrid>
                <a:gridCol w="1713865"/>
                <a:gridCol w="4782185"/>
                <a:gridCol w="4837475"/>
              </a:tblGrid>
              <a:tr h="254000">
                <a:tc>
                  <a:txBody>
                    <a:bodyPr/>
                    <a:lstStyle/>
                    <a:p>
                      <a:pPr marL="0" marR="0" lvl="0" indent="0" algn="l" rtl="0">
                        <a:lnSpc>
                          <a:spcPct val="107000"/>
                        </a:lnSpc>
                        <a:spcBef>
                          <a:spcPts val="0"/>
                        </a:spcBef>
                        <a:spcAft>
                          <a:spcPts val="0"/>
                        </a:spcAft>
                        <a:buNone/>
                      </a:pPr>
                      <a:r>
                        <a:rPr lang="en-US" sz="2000" u="none" strike="noStrike" cap="none"/>
                        <a:t> Role</a:t>
                      </a:r>
                      <a:endParaRPr sz="20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tc>
                <a:tc>
                  <a:txBody>
                    <a:bodyPr/>
                    <a:lstStyle/>
                    <a:p>
                      <a:pPr marL="0" marR="0" lvl="0" indent="0" algn="l" rtl="0">
                        <a:lnSpc>
                          <a:spcPct val="107000"/>
                        </a:lnSpc>
                        <a:spcBef>
                          <a:spcPts val="0"/>
                        </a:spcBef>
                        <a:spcAft>
                          <a:spcPts val="0"/>
                        </a:spcAft>
                        <a:buNone/>
                      </a:pPr>
                      <a:r>
                        <a:rPr lang="en-US" sz="2000" u="none" strike="noStrike" cap="none"/>
                        <a:t>KPI-1</a:t>
                      </a:r>
                      <a:endParaRPr sz="20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tc>
                <a:tc>
                  <a:txBody>
                    <a:bodyPr/>
                    <a:lstStyle/>
                    <a:p>
                      <a:pPr marL="0" marR="0" lvl="0" indent="0" algn="l" rtl="0">
                        <a:lnSpc>
                          <a:spcPct val="107000"/>
                        </a:lnSpc>
                        <a:spcBef>
                          <a:spcPts val="0"/>
                        </a:spcBef>
                        <a:spcAft>
                          <a:spcPts val="0"/>
                        </a:spcAft>
                        <a:buNone/>
                      </a:pPr>
                      <a:r>
                        <a:rPr lang="en-US" sz="2000" u="none" strike="noStrike" cap="none"/>
                        <a:t>KPI-2</a:t>
                      </a:r>
                      <a:endParaRPr sz="20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tc>
              </a:tr>
              <a:tr h="2000000">
                <a:tc>
                  <a:txBody>
                    <a:bodyPr/>
                    <a:lstStyle/>
                    <a:p>
                      <a:pPr marL="0" indent="0" algn="l">
                        <a:spcAft>
                          <a:spcPts val="200"/>
                        </a:spcAft>
                        <a:buNone/>
                      </a:pPr>
                      <a:r>
                        <a:rPr lang="en-US" sz="1400" b="1">
                          <a:solidFill>
                            <a:srgbClr val="002060"/>
                          </a:solidFill>
                        </a:rPr>
                        <a:t>Sales Person</a:t>
                      </a:r>
                      <a:endParaRPr lang="en-US" sz="1400" b="1">
                        <a:solidFill>
                          <a:srgbClr val="002060"/>
                        </a:solidFill>
                      </a:endParaRPr>
                    </a:p>
                  </a:txBody>
                  <a:tcPr marL="80000" marR="80000" marT="45725" marB="45725" anchor="t"/>
                </a:tc>
                <a:tc>
                  <a:txBody>
                    <a:bodyPr/>
                    <a:lstStyle/>
                    <a:p>
                      <a:pPr marL="0" indent="0" algn="l">
                        <a:spcAft>
                          <a:spcPts val="200"/>
                        </a:spcAft>
                        <a:buNone/>
                      </a:pPr>
                      <a:r>
                        <a:rPr lang="en-US" sz="1300" b="1">
                          <a:solidFill>
                            <a:srgbClr val="000000"/>
                          </a:solidFill>
                        </a:rPr>
                        <a:t>Quote-to-Order Conversion within Validity (%)</a:t>
                      </a:r>
                      <a:endParaRPr lang="en-US" sz="1300" b="1">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Orders created from quotations before the Valid-To date / quotations issued.</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Why critical: shows whether quotes turn into confirmed demand in time. A low value points to weak pricing or poor follow-up.</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GBI example (slide 4): Quotation 20000044 led to Order 45 (20,092.50 USD).</a:t>
                      </a:r>
                      <a:endParaRPr lang="en-US" altLang="en-US" sz="1300" b="0">
                        <a:solidFill>
                          <a:srgbClr val="000000"/>
                        </a:solidFill>
                      </a:endParaRPr>
                    </a:p>
                  </a:txBody>
                  <a:tcPr marL="80000" marR="80000" marT="45725" marB="45725" anchor="t"/>
                </a:tc>
                <a:tc>
                  <a:txBody>
                    <a:bodyPr/>
                    <a:lstStyle/>
                    <a:p>
                      <a:pPr marL="0" indent="0" algn="l">
                        <a:spcAft>
                          <a:spcPts val="200"/>
                        </a:spcAft>
                        <a:buNone/>
                      </a:pPr>
                      <a:r>
                        <a:rPr lang="en-US" sz="1300" b="1">
                          <a:solidFill>
                            <a:srgbClr val="000000"/>
                          </a:solidFill>
                        </a:rPr>
                        <a:t>Price Realization (%)</a:t>
                      </a:r>
                      <a:endParaRPr lang="en-US" sz="1300" b="1">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Net value after material and % discounts / gross value, by customer and material.</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Why critical: the salesperson controls discounts, so a falling value shows margin being given away.</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GBI example (slide 4): Inquiry 10000053 was 21,400.00 USD and Quotation 20000044 was 20,092.50 USD. 20,092.50 / 21,400.00 = 93.9%.</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Data source (slide 5): pricing condition records PR00, K004, RA00.</a:t>
                      </a:r>
                      <a:endParaRPr lang="en-US" altLang="en-US" sz="1300" b="0">
                        <a:solidFill>
                          <a:srgbClr val="000000"/>
                        </a:solidFill>
                      </a:endParaRPr>
                    </a:p>
                  </a:txBody>
                  <a:tcPr marL="80000" marR="80000" marT="45725" marB="45725" anchor="t"/>
                </a:tc>
              </a:tr>
              <a:tr h="2000000">
                <a:tc>
                  <a:txBody>
                    <a:bodyPr/>
                    <a:lstStyle/>
                    <a:p>
                      <a:pPr marL="0" indent="0" algn="l">
                        <a:spcAft>
                          <a:spcPts val="200"/>
                        </a:spcAft>
                        <a:buNone/>
                      </a:pPr>
                      <a:r>
                        <a:rPr lang="en-US" sz="1400" b="1">
                          <a:solidFill>
                            <a:srgbClr val="002060"/>
                          </a:solidFill>
                        </a:rPr>
                        <a:t>Warehouse Supervisor</a:t>
                      </a:r>
                      <a:endParaRPr lang="en-US" sz="1400" b="1">
                        <a:solidFill>
                          <a:srgbClr val="002060"/>
                        </a:solidFill>
                      </a:endParaRPr>
                    </a:p>
                  </a:txBody>
                  <a:tcPr marL="80000" marR="80000" marT="45725" marB="45725" anchor="t"/>
                </a:tc>
                <a:tc>
                  <a:txBody>
                    <a:bodyPr/>
                    <a:lstStyle/>
                    <a:p>
                      <a:pPr marL="0" indent="0" algn="l">
                        <a:spcAft>
                          <a:spcPts val="200"/>
                        </a:spcAft>
                        <a:buNone/>
                      </a:pPr>
                      <a:r>
                        <a:rPr lang="en-US" sz="1300" b="1">
                          <a:solidFill>
                            <a:srgbClr val="000000"/>
                          </a:solidFill>
                        </a:rPr>
                        <a:t>On-Time Goods Issue (%)</a:t>
                      </a:r>
                      <a:endParaRPr lang="en-US" sz="1300" b="1">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Deliveries with actual GI date on or before planned GI date / total deliveries.</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Why critical: goods issue triggers the invoice, so late issue delays billing and cash.</a:t>
                      </a:r>
                      <a:endParaRPr lang="en-US" altLang="en-US" sz="1300" b="0">
                        <a:solidFill>
                          <a:srgbClr val="000000"/>
                        </a:solidFill>
                      </a:endParaRPr>
                    </a:p>
                    <a:p>
                      <a:pPr marL="285750" indent="-285750" algn="just">
                        <a:spcAft>
                          <a:spcPts val="200"/>
                        </a:spcAft>
                        <a:buFont typeface="Wingdings" panose="05000000000000000000" charset="0"/>
                        <a:buChar char="Ø"/>
                      </a:pPr>
                      <a:r>
                        <a:rPr lang="en-US" altLang="en-US" sz="1300" b="0">
                          <a:solidFill>
                            <a:srgbClr val="000000"/>
                          </a:solidFill>
                        </a:rPr>
                        <a:t>GBI example (slide 4): Delivery 80000042 (shipping point MI00), delivery date 10/11/2026. Goods issue 4900038079 posted on 10/03/2026.</a:t>
                      </a:r>
                      <a:endParaRPr lang="en-US" altLang="en-US" sz="1300" b="0">
                        <a:solidFill>
                          <a:srgbClr val="000000"/>
                        </a:solidFill>
                      </a:endParaRPr>
                    </a:p>
                  </a:txBody>
                  <a:tcPr marL="80000" marR="80000" marT="45725" marB="45725" anchor="t"/>
                </a:tc>
                <a:tc>
                  <a:txBody>
                    <a:bodyPr/>
                    <a:lstStyle/>
                    <a:p>
                      <a:pPr marL="0" indent="0" algn="l">
                        <a:spcAft>
                          <a:spcPts val="200"/>
                        </a:spcAft>
                        <a:buNone/>
                      </a:pPr>
                      <a:r>
                        <a:rPr lang="en-US" sz="1300" b="1">
                          <a:solidFill>
                            <a:srgbClr val="000000"/>
                          </a:solidFill>
                        </a:rPr>
                        <a:t>First-Time-Right Goods Issue (%)</a:t>
                      </a:r>
                      <a:endParaRPr lang="en-US" sz="1300" b="1">
                        <a:solidFill>
                          <a:srgbClr val="000000"/>
                        </a:solidFill>
                      </a:endParaRPr>
                    </a:p>
                    <a:p>
                      <a:pPr marL="285750" indent="-285750" algn="l">
                        <a:spcAft>
                          <a:spcPts val="200"/>
                        </a:spcAft>
                        <a:buFont typeface="Wingdings" panose="05000000000000000000" charset="0"/>
                        <a:buChar char="Ø"/>
                      </a:pPr>
                      <a:r>
                        <a:rPr lang="en-US" altLang="en-US" sz="1300" b="0">
                          <a:solidFill>
                            <a:srgbClr val="000000"/>
                          </a:solidFill>
                        </a:rPr>
                        <a:t>Deliveries posted without error or rework (missing storage location, no stock) / total deliveries.</a:t>
                      </a:r>
                      <a:endParaRPr lang="en-US" altLang="en-US" sz="1300" b="0">
                        <a:solidFill>
                          <a:srgbClr val="000000"/>
                        </a:solidFill>
                      </a:endParaRPr>
                    </a:p>
                    <a:p>
                      <a:pPr marL="285750" indent="-285750" algn="l">
                        <a:spcAft>
                          <a:spcPts val="200"/>
                        </a:spcAft>
                        <a:buFont typeface="Wingdings" panose="05000000000000000000" charset="0"/>
                        <a:buChar char="Ø"/>
                      </a:pPr>
                      <a:r>
                        <a:rPr lang="en-US" altLang="en-US" sz="1300" b="0">
                          <a:solidFill>
                            <a:srgbClr val="000000"/>
                          </a:solidFill>
                        </a:rPr>
                        <a:t>Why critical: exposes stock and master data quality problems that block the cycle.</a:t>
                      </a:r>
                      <a:endParaRPr lang="en-US" altLang="en-US" sz="1300" b="0">
                        <a:solidFill>
                          <a:srgbClr val="000000"/>
                        </a:solidFill>
                      </a:endParaRPr>
                    </a:p>
                    <a:p>
                      <a:pPr marL="285750" indent="-285750" algn="l">
                        <a:spcAft>
                          <a:spcPts val="200"/>
                        </a:spcAft>
                        <a:buFont typeface="Wingdings" panose="05000000000000000000" charset="0"/>
                        <a:buChar char="Ø"/>
                      </a:pPr>
                      <a:r>
                        <a:rPr lang="en-US" altLang="en-US" sz="1300" b="0">
                          <a:solidFill>
                            <a:srgbClr val="000000"/>
                          </a:solidFill>
                        </a:rPr>
                        <a:t>GBI example (slide 4): stock in FG00 (MI00) was enough for 5 EA + 2 EA, and goods issue 4900038079 was posted.</a:t>
                      </a:r>
                      <a:endParaRPr lang="en-US" altLang="en-US" sz="1300" b="0">
                        <a:solidFill>
                          <a:srgbClr val="000000"/>
                        </a:solidFill>
                      </a:endParaRPr>
                    </a:p>
                  </a:txBody>
                  <a:tcPr marL="80000" marR="80000" marT="45725" marB="45725" anchor="t"/>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 Agentic AI relevance (10 Marks)</a:t>
            </a:r>
            <a:endParaRPr lang="en-US" dirty="0"/>
          </a:p>
        </p:txBody>
      </p:sp>
      <p:graphicFrame>
        <p:nvGraphicFramePr>
          <p:cNvPr id="4" name="Table 3"/>
          <p:cNvGraphicFramePr>
            <a:graphicFrameLocks noGrp="1"/>
          </p:cNvGraphicFramePr>
          <p:nvPr/>
        </p:nvGraphicFramePr>
        <p:xfrm>
          <a:off x="324000" y="1391444"/>
          <a:ext cx="11287128" cy="5059680"/>
        </p:xfrm>
        <a:graphic>
          <a:graphicData uri="http://schemas.openxmlformats.org/drawingml/2006/table">
            <a:tbl>
              <a:tblPr>
                <a:tableStyleId>{B8D6F890-A439-49F1-84FE-55D4BC673157}</a:tableStyleId>
              </a:tblPr>
              <a:tblGrid>
                <a:gridCol w="2821782"/>
                <a:gridCol w="2821782"/>
                <a:gridCol w="2821782"/>
                <a:gridCol w="2821782"/>
              </a:tblGrid>
              <a:tr h="304800">
                <a:tc>
                  <a:txBody>
                    <a:bodyPr/>
                    <a:lstStyle/>
                    <a:p>
                      <a:r>
                        <a:rPr lang="en-US" sz="1400"/>
                        <a:t>Selected S2C Role</a:t>
                      </a:r>
                      <a:endParaRPr lang="en-US" sz="1400"/>
                    </a:p>
                  </a:txBody>
                  <a:tcPr anchor="ctr"/>
                </a:tc>
                <a:tc>
                  <a:txBody>
                    <a:bodyPr/>
                    <a:lstStyle/>
                    <a:p>
                      <a:r>
                        <a:rPr lang="en-US" sz="1400"/>
                        <a:t>Agentic AI Use Case</a:t>
                      </a:r>
                      <a:endParaRPr lang="en-US" sz="1400"/>
                    </a:p>
                  </a:txBody>
                  <a:tcPr anchor="ctr"/>
                </a:tc>
                <a:tc>
                  <a:txBody>
                    <a:bodyPr/>
                    <a:lstStyle/>
                    <a:p>
                      <a:r>
                        <a:rPr lang="en-US" sz="1400" dirty="0"/>
                        <a:t>Action by AI Agent</a:t>
                      </a:r>
                      <a:endParaRPr lang="en-US" sz="1400" dirty="0"/>
                    </a:p>
                  </a:txBody>
                  <a:tcPr anchor="ctr"/>
                </a:tc>
                <a:tc>
                  <a:txBody>
                    <a:bodyPr/>
                    <a:lstStyle/>
                    <a:p>
                      <a:r>
                        <a:rPr lang="en-US" sz="1400"/>
                        <a:t>Decision Supported</a:t>
                      </a:r>
                      <a:endParaRPr lang="en-US" sz="1400"/>
                    </a:p>
                  </a:txBody>
                  <a:tcPr anchor="ctr"/>
                </a:tc>
              </a:tr>
              <a:tr h="304800">
                <a:tc>
                  <a:txBody>
                    <a:bodyPr/>
                    <a:lstStyle/>
                    <a:p>
                      <a:pPr marL="0" indent="0" algn="l">
                        <a:spcAft>
                          <a:spcPts val="200"/>
                        </a:spcAft>
                        <a:buNone/>
                      </a:pPr>
                      <a:r>
                        <a:rPr lang="en-US" sz="1400" b="1">
                          <a:solidFill>
                            <a:srgbClr val="002060"/>
                          </a:solidFill>
                        </a:rPr>
                        <a:t>Sales Person</a:t>
                      </a:r>
                      <a:endParaRPr lang="en-US" sz="1400" b="1">
                        <a:solidFill>
                          <a:srgbClr val="002060"/>
                        </a:solidFill>
                      </a:endParaRPr>
                    </a:p>
                  </a:txBody>
                  <a:tcPr marL="80000" marR="80000" marT="45725" marB="45725" anchor="t"/>
                </a:tc>
                <a:tc>
                  <a:txBody>
                    <a:bodyPr/>
                    <a:lstStyle/>
                    <a:p>
                      <a:pPr marL="0" indent="0" algn="just">
                        <a:spcAft>
                          <a:spcPts val="200"/>
                        </a:spcAft>
                        <a:buNone/>
                      </a:pPr>
                      <a:r>
                        <a:rPr lang="en-US" sz="1200" b="1">
                          <a:solidFill>
                            <a:srgbClr val="000000"/>
                          </a:solidFill>
                        </a:rPr>
                        <a:t>Quotation Pricing and Follow-up Agent</a:t>
                      </a:r>
                      <a:endParaRPr lang="en-US" sz="1200" b="1">
                        <a:solidFill>
                          <a:srgbClr val="000000"/>
                        </a:solidFill>
                      </a:endParaRPr>
                    </a:p>
                    <a:p>
                      <a:pPr marL="0" indent="0" algn="just">
                        <a:spcAft>
                          <a:spcPts val="200"/>
                        </a:spcAft>
                        <a:buNone/>
                      </a:pPr>
                      <a:r>
                        <a:rPr lang="en-US" sz="1200" b="0">
                          <a:solidFill>
                            <a:srgbClr val="000000"/>
                          </a:solidFill>
                        </a:rPr>
                        <a:t>Data: customer history, price and discount conditions, stock availability, quotation Valid-To dates.</a:t>
                      </a:r>
                      <a:endParaRPr lang="en-US" sz="1200" b="0">
                        <a:solidFill>
                          <a:srgbClr val="000000"/>
                        </a:solidFill>
                      </a:endParaRPr>
                    </a:p>
                  </a:txBody>
                  <a:tcPr marL="80000" marR="80000" marT="45725" marB="45725" anchor="t"/>
                </a:tc>
                <a:tc>
                  <a:txBody>
                    <a:bodyPr/>
                    <a:lstStyle/>
                    <a:p>
                      <a:pPr marL="171450" indent="-171450" algn="just">
                        <a:spcAft>
                          <a:spcPts val="200"/>
                        </a:spcAft>
                        <a:buFont typeface="Wingdings" panose="05000000000000000000" charset="0"/>
                        <a:buChar char="Ø"/>
                      </a:pPr>
                      <a:r>
                        <a:rPr lang="en-US" sz="1200" b="0">
                          <a:solidFill>
                            <a:srgbClr val="000000"/>
                          </a:solidFill>
                        </a:rPr>
                        <a:t>Drafts the quotation from the inquiry</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Flags manual discount overrides</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Reminds the customer before the quote expires</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Salesperson approves the final discount</a:t>
                      </a:r>
                      <a:endParaRPr lang="en-US" sz="1200" b="0">
                        <a:solidFill>
                          <a:srgbClr val="000000"/>
                        </a:solidFill>
                      </a:endParaRPr>
                    </a:p>
                  </a:txBody>
                  <a:tcPr marL="80000" marR="80000" marT="45725" marB="45725" anchor="t"/>
                </a:tc>
                <a:tc>
                  <a:txBody>
                    <a:bodyPr/>
                    <a:lstStyle/>
                    <a:p>
                      <a:pPr marL="171450" indent="-171450" algn="just">
                        <a:spcAft>
                          <a:spcPts val="200"/>
                        </a:spcAft>
                        <a:buFont typeface="Wingdings" panose="05000000000000000000" charset="0"/>
                        <a:buChar char="Ø"/>
                      </a:pPr>
                      <a:r>
                        <a:rPr lang="en-US" sz="1200" b="0">
                          <a:solidFill>
                            <a:srgbClr val="000000"/>
                          </a:solidFill>
                        </a:rPr>
                        <a:t>How much discount protects margin?</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Which open quotes to chase first?</a:t>
                      </a:r>
                      <a:endParaRPr lang="en-US" sz="1200" b="0">
                        <a:solidFill>
                          <a:srgbClr val="000000"/>
                        </a:solidFill>
                      </a:endParaRPr>
                    </a:p>
                    <a:p>
                      <a:pPr marL="0" indent="0" algn="just">
                        <a:spcAft>
                          <a:spcPts val="200"/>
                        </a:spcAft>
                        <a:buNone/>
                      </a:pPr>
                      <a:r>
                        <a:rPr lang="en-US" sz="1200" b="1">
                          <a:solidFill>
                            <a:srgbClr val="000000"/>
                          </a:solidFill>
                        </a:rPr>
                        <a:t>KPI: Conversion, Price Realization</a:t>
                      </a:r>
                      <a:endParaRPr lang="en-US" sz="1200" b="1">
                        <a:solidFill>
                          <a:srgbClr val="000000"/>
                        </a:solidFill>
                      </a:endParaRPr>
                    </a:p>
                  </a:txBody>
                  <a:tcPr marL="80000" marR="80000" marT="45725" marB="45725" anchor="t"/>
                </a:tc>
              </a:tr>
              <a:tr h="304800">
                <a:tc>
                  <a:txBody>
                    <a:bodyPr/>
                    <a:lstStyle/>
                    <a:p>
                      <a:pPr marL="0" indent="0" algn="l">
                        <a:spcAft>
                          <a:spcPts val="200"/>
                        </a:spcAft>
                        <a:buNone/>
                      </a:pPr>
                      <a:r>
                        <a:rPr lang="en-US" sz="1400" b="1">
                          <a:solidFill>
                            <a:srgbClr val="002060"/>
                          </a:solidFill>
                        </a:rPr>
                        <a:t>Warehouse Supervisor</a:t>
                      </a:r>
                      <a:endParaRPr lang="en-US" sz="1400" b="1">
                        <a:solidFill>
                          <a:srgbClr val="002060"/>
                        </a:solidFill>
                      </a:endParaRPr>
                    </a:p>
                  </a:txBody>
                  <a:tcPr marL="80000" marR="80000" marT="45725" marB="45725" anchor="t"/>
                </a:tc>
                <a:tc>
                  <a:txBody>
                    <a:bodyPr/>
                    <a:lstStyle/>
                    <a:p>
                      <a:pPr marL="0" indent="0" algn="just">
                        <a:spcAft>
                          <a:spcPts val="200"/>
                        </a:spcAft>
                        <a:buNone/>
                      </a:pPr>
                      <a:r>
                        <a:rPr lang="en-US" sz="1200" b="1">
                          <a:solidFill>
                            <a:srgbClr val="000000"/>
                          </a:solidFill>
                        </a:rPr>
                        <a:t>Delivery Readiness Agent</a:t>
                      </a:r>
                      <a:endParaRPr lang="en-US" sz="1200" b="1">
                        <a:solidFill>
                          <a:srgbClr val="000000"/>
                        </a:solidFill>
                      </a:endParaRPr>
                    </a:p>
                    <a:p>
                      <a:pPr marL="0" indent="0" algn="just">
                        <a:spcAft>
                          <a:spcPts val="200"/>
                        </a:spcAft>
                        <a:buNone/>
                      </a:pPr>
                      <a:r>
                        <a:rPr lang="en-US" sz="1200" b="0">
                          <a:solidFill>
                            <a:srgbClr val="000000"/>
                          </a:solidFill>
                        </a:rPr>
                        <a:t>Data: stock by plant and storage location, open orders, planned GI dates, picking status.</a:t>
                      </a:r>
                      <a:endParaRPr lang="en-US" sz="1200" b="0">
                        <a:solidFill>
                          <a:srgbClr val="000000"/>
                        </a:solidFill>
                      </a:endParaRPr>
                    </a:p>
                  </a:txBody>
                  <a:tcPr marL="80000" marR="80000" marT="45725" marB="45725" anchor="t"/>
                </a:tc>
                <a:tc>
                  <a:txBody>
                    <a:bodyPr/>
                    <a:lstStyle/>
                    <a:p>
                      <a:pPr marL="171450" indent="-171450" algn="just">
                        <a:spcAft>
                          <a:spcPts val="200"/>
                        </a:spcAft>
                        <a:buFont typeface="Wingdings" panose="05000000000000000000" charset="0"/>
                        <a:buChar char="Ø"/>
                      </a:pPr>
                      <a:r>
                        <a:rPr lang="en-US" sz="1200" b="0">
                          <a:solidFill>
                            <a:srgbClr val="000000"/>
                          </a:solidFill>
                        </a:rPr>
                        <a:t>Checks stock and missing delivery data before delivery</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Prioritises picking and proposes goods issue</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Raises a replenishment request on low stock</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Supervisor approves the posting</a:t>
                      </a:r>
                      <a:endParaRPr lang="en-US" sz="1200" b="0">
                        <a:solidFill>
                          <a:srgbClr val="000000"/>
                        </a:solidFill>
                      </a:endParaRPr>
                    </a:p>
                  </a:txBody>
                  <a:tcPr marL="80000" marR="80000" marT="45725" marB="45725" anchor="t"/>
                </a:tc>
                <a:tc>
                  <a:txBody>
                    <a:bodyPr/>
                    <a:lstStyle/>
                    <a:p>
                      <a:pPr marL="171450" indent="-171450" algn="just">
                        <a:spcAft>
                          <a:spcPts val="200"/>
                        </a:spcAft>
                        <a:buFont typeface="Wingdings" panose="05000000000000000000" charset="0"/>
                        <a:buChar char="Ø"/>
                      </a:pPr>
                      <a:r>
                        <a:rPr lang="en-US" sz="1200" b="0">
                          <a:solidFill>
                            <a:srgbClr val="000000"/>
                          </a:solidFill>
                        </a:rPr>
                        <a:t>Which deliveries to ship first?</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When to reorder or split a shipment?</a:t>
                      </a:r>
                      <a:endParaRPr lang="en-US" sz="1200" b="0">
                        <a:solidFill>
                          <a:srgbClr val="000000"/>
                        </a:solidFill>
                      </a:endParaRPr>
                    </a:p>
                    <a:p>
                      <a:pPr marL="0" indent="0" algn="just">
                        <a:spcAft>
                          <a:spcPts val="200"/>
                        </a:spcAft>
                        <a:buNone/>
                      </a:pPr>
                      <a:r>
                        <a:rPr lang="en-US" sz="1200" b="1">
                          <a:solidFill>
                            <a:srgbClr val="000000"/>
                          </a:solidFill>
                        </a:rPr>
                        <a:t>KPI: On-Time GI, First-Time-Right GI</a:t>
                      </a:r>
                      <a:endParaRPr lang="en-US" sz="1200" b="1">
                        <a:solidFill>
                          <a:srgbClr val="000000"/>
                        </a:solidFill>
                      </a:endParaRPr>
                    </a:p>
                  </a:txBody>
                  <a:tcPr marL="80000" marR="80000" marT="45725" marB="45725" anchor="t"/>
                </a:tc>
              </a:tr>
              <a:tr h="304800">
                <a:tc>
                  <a:txBody>
                    <a:bodyPr/>
                    <a:lstStyle/>
                    <a:p>
                      <a:pPr marL="0" indent="0" algn="l">
                        <a:spcAft>
                          <a:spcPts val="200"/>
                        </a:spcAft>
                        <a:buNone/>
                      </a:pPr>
                      <a:r>
                        <a:rPr lang="en-US" sz="1400" b="1">
                          <a:solidFill>
                            <a:srgbClr val="002060"/>
                          </a:solidFill>
                        </a:rPr>
                        <a:t>Accountant</a:t>
                      </a:r>
                      <a:endParaRPr lang="en-US" sz="1400" b="1">
                        <a:solidFill>
                          <a:srgbClr val="002060"/>
                        </a:solidFill>
                      </a:endParaRPr>
                    </a:p>
                  </a:txBody>
                  <a:tcPr marL="80000" marR="80000" marT="45725" marB="45725" anchor="t"/>
                </a:tc>
                <a:tc>
                  <a:txBody>
                    <a:bodyPr/>
                    <a:lstStyle/>
                    <a:p>
                      <a:pPr marL="0" indent="0" algn="just">
                        <a:spcAft>
                          <a:spcPts val="200"/>
                        </a:spcAft>
                        <a:buNone/>
                      </a:pPr>
                      <a:r>
                        <a:rPr lang="en-US" sz="1200" b="1">
                          <a:solidFill>
                            <a:srgbClr val="000000"/>
                          </a:solidFill>
                        </a:rPr>
                        <a:t>Billing and Cash Collection Agent</a:t>
                      </a:r>
                      <a:endParaRPr lang="en-US" sz="1200" b="1">
                        <a:solidFill>
                          <a:srgbClr val="000000"/>
                        </a:solidFill>
                      </a:endParaRPr>
                    </a:p>
                    <a:p>
                      <a:pPr marL="0" indent="0" algn="just">
                        <a:spcAft>
                          <a:spcPts val="200"/>
                        </a:spcAft>
                        <a:buNone/>
                      </a:pPr>
                      <a:r>
                        <a:rPr lang="en-US" sz="1200" b="0">
                          <a:solidFill>
                            <a:srgbClr val="000000"/>
                          </a:solidFill>
                        </a:rPr>
                        <a:t>Data: goods issue status, billing document, payment terms, bank receipts, open items and ageing.</a:t>
                      </a:r>
                      <a:endParaRPr lang="en-US" sz="1200" b="0">
                        <a:solidFill>
                          <a:srgbClr val="000000"/>
                        </a:solidFill>
                      </a:endParaRPr>
                    </a:p>
                  </a:txBody>
                  <a:tcPr marL="80000" marR="80000" marT="45725" marB="45725" anchor="t"/>
                </a:tc>
                <a:tc>
                  <a:txBody>
                    <a:bodyPr/>
                    <a:lstStyle/>
                    <a:p>
                      <a:pPr marL="171450" indent="-171450" algn="just">
                        <a:spcAft>
                          <a:spcPts val="200"/>
                        </a:spcAft>
                        <a:buFont typeface="Wingdings" panose="05000000000000000000" charset="0"/>
                        <a:buChar char="Ø"/>
                      </a:pPr>
                      <a:r>
                        <a:rPr lang="en-US" sz="1200" b="0">
                          <a:solidFill>
                            <a:srgbClr val="000000"/>
                          </a:solidFill>
                        </a:rPr>
                        <a:t>Proposes the invoice after goods issue and checks it against the order</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Matches payments to open items</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Drafts reminders for overdue invoices</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Accountant approves anything that posts</a:t>
                      </a:r>
                      <a:endParaRPr lang="en-US" sz="1200" b="0">
                        <a:solidFill>
                          <a:srgbClr val="000000"/>
                        </a:solidFill>
                      </a:endParaRPr>
                    </a:p>
                  </a:txBody>
                  <a:tcPr marL="80000" marR="80000" marT="45725" marB="45725" anchor="t"/>
                </a:tc>
                <a:tc>
                  <a:txBody>
                    <a:bodyPr/>
                    <a:lstStyle/>
                    <a:p>
                      <a:pPr marL="171450" indent="-171450" algn="just">
                        <a:spcAft>
                          <a:spcPts val="200"/>
                        </a:spcAft>
                        <a:buFont typeface="Wingdings" panose="05000000000000000000" charset="0"/>
                        <a:buChar char="Ø"/>
                      </a:pPr>
                      <a:r>
                        <a:rPr lang="en-US" sz="1200" b="0">
                          <a:solidFill>
                            <a:srgbClr val="000000"/>
                          </a:solidFill>
                        </a:rPr>
                        <a:t>Release or hold a billing document?</a:t>
                      </a:r>
                      <a:endParaRPr lang="en-US" sz="1200" b="0">
                        <a:solidFill>
                          <a:srgbClr val="000000"/>
                        </a:solidFill>
                      </a:endParaRPr>
                    </a:p>
                    <a:p>
                      <a:pPr marL="171450" indent="-171450" algn="just">
                        <a:spcAft>
                          <a:spcPts val="200"/>
                        </a:spcAft>
                        <a:buFont typeface="Wingdings" panose="05000000000000000000" charset="0"/>
                        <a:buChar char="Ø"/>
                      </a:pPr>
                      <a:r>
                        <a:rPr lang="en-US" sz="1200" b="0">
                          <a:solidFill>
                            <a:srgbClr val="000000"/>
                          </a:solidFill>
                        </a:rPr>
                        <a:t>Which overdue customers to escalate?</a:t>
                      </a:r>
                      <a:endParaRPr lang="en-US" sz="1200" b="0">
                        <a:solidFill>
                          <a:srgbClr val="000000"/>
                        </a:solidFill>
                      </a:endParaRPr>
                    </a:p>
                    <a:p>
                      <a:pPr marL="0" indent="0" algn="just">
                        <a:spcAft>
                          <a:spcPts val="200"/>
                        </a:spcAft>
                        <a:buNone/>
                      </a:pPr>
                      <a:r>
                        <a:rPr lang="en-US" sz="1200" b="1">
                          <a:solidFill>
                            <a:srgbClr val="000000"/>
                          </a:solidFill>
                        </a:rPr>
                        <a:t>KPI: Days Sales Outstanding</a:t>
                      </a:r>
                      <a:endParaRPr lang="en-US" sz="1200" b="1">
                        <a:solidFill>
                          <a:srgbClr val="000000"/>
                        </a:solidFill>
                      </a:endParaRPr>
                    </a:p>
                  </a:txBody>
                  <a:tcPr marL="80000" marR="80000" marT="45725" marB="45725" anchor="t"/>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lstStyle/>
          <a:p>
            <a:r>
              <a:t>e. Prompts used for GenAI / Agentic AI</a:t>
            </a:r>
          </a:p>
        </p:txBody>
      </p:sp>
      <p:sp>
        <p:nvSpPr>
          <p:cNvPr id="4" name="TextBox 3"/>
          <p:cNvSpPr txBox="1"/>
          <p:nvPr/>
        </p:nvSpPr>
        <p:spPr>
          <a:xfrm>
            <a:off x="324000" y="1250000"/>
            <a:ext cx="11287128" cy="4510405"/>
          </a:xfrm>
          <a:prstGeom prst="rect">
            <a:avLst/>
          </a:prstGeom>
          <a:noFill/>
        </p:spPr>
        <p:txBody>
          <a:bodyPr wrap="square">
            <a:spAutoFit/>
          </a:bodyPr>
          <a:lstStyle/>
          <a:p>
            <a:pPr algn="just">
              <a:spcAft>
                <a:spcPts val="500"/>
              </a:spcAft>
            </a:pPr>
            <a:r>
              <a:rPr sz="1100" b="0" i="1">
                <a:solidFill>
                  <a:srgbClr val="262626"/>
                </a:solidFill>
              </a:rPr>
              <a:t>Tool: Claude (Anthropic) </a:t>
            </a:r>
            <a:endParaRPr sz="1100" b="0" i="1">
              <a:solidFill>
                <a:srgbClr val="262626"/>
              </a:solidFill>
            </a:endParaRPr>
          </a:p>
          <a:p>
            <a:pPr algn="just">
              <a:spcBef>
                <a:spcPts val="600"/>
              </a:spcBef>
              <a:spcAft>
                <a:spcPts val="500"/>
              </a:spcAft>
            </a:pPr>
            <a:r>
              <a:rPr sz="1400" b="1" i="0">
                <a:solidFill>
                  <a:srgbClr val="002060"/>
                </a:solidFill>
              </a:rPr>
              <a:t>Prompt 1: </a:t>
            </a:r>
            <a:r>
              <a:rPr lang="en-US" altLang="en-US" sz="1400" b="1" i="0">
                <a:solidFill>
                  <a:srgbClr val="002060"/>
                </a:solidFill>
              </a:rPr>
              <a:t>KPIs and role selection</a:t>
            </a:r>
            <a:endParaRPr lang="en-US" altLang="en-US" sz="1400" b="1" i="0">
              <a:solidFill>
                <a:srgbClr val="002060"/>
              </a:solidFill>
            </a:endParaRPr>
          </a:p>
          <a:p>
            <a:pPr algn="just">
              <a:spcAft>
                <a:spcPts val="500"/>
              </a:spcAft>
            </a:pPr>
            <a:r>
              <a:rPr sz="1200" b="0" i="0">
                <a:solidFill>
                  <a:srgbClr val="262626"/>
                </a:solidFill>
              </a:rPr>
              <a:t>"</a:t>
            </a:r>
            <a:r>
              <a:rPr lang="en-US" altLang="en-US" sz="1200" b="0" i="0">
                <a:solidFill>
                  <a:srgbClr val="262626"/>
                </a:solidFill>
              </a:rPr>
              <a:t>Act as a supply chain and operations analytics consultant. Global Bike Inc. (Company Code US00, Sales Org UE00, Plant MI00, Storage Location FG00) ran this sold-to-cash cycle in SAP S/4HANA for Big Apple Bikes: Inquiry 10000053 (21,400.00 USD), Quotation 20000044 (20,092.50 USD), Order 45 (5 EA + 2 EA), Delivery 80000042, Goods Issue 4900038079, Invoice 90000032 and Payment 1400000030. The roles are East Representative, Sales Person, Warehouse Supervisor, Warehouse Employee and Accountant. First, suggest two unique, analytical KPIs each for the Sales Person and the Warehouse Supervisor, with formula, SAP data source and why it measures performance. Avoid generic KPIs such as total sales. Then shortlist three roles where agentic AI (reads data, decides, acts, with human approval) adds the most value, based on real pain points: manual discounts, a missing storage location at goods issue, and blocked billing documents.</a:t>
            </a:r>
            <a:r>
              <a:rPr sz="1200" b="0" i="0">
                <a:solidFill>
                  <a:srgbClr val="262626"/>
                </a:solidFill>
              </a:rPr>
              <a:t>"</a:t>
            </a:r>
            <a:endParaRPr sz="1200" b="0" i="0">
              <a:solidFill>
                <a:srgbClr val="262626"/>
              </a:solidFill>
            </a:endParaRPr>
          </a:p>
          <a:p>
            <a:pPr algn="just">
              <a:spcBef>
                <a:spcPts val="600"/>
              </a:spcBef>
              <a:spcAft>
                <a:spcPts val="500"/>
              </a:spcAft>
            </a:pPr>
            <a:r>
              <a:rPr sz="1400" b="1" i="0">
                <a:solidFill>
                  <a:srgbClr val="002060"/>
                </a:solidFill>
              </a:rPr>
              <a:t>Prompt 2: Data, decision and action</a:t>
            </a:r>
            <a:endParaRPr sz="1400" b="1" i="0">
              <a:solidFill>
                <a:srgbClr val="002060"/>
              </a:solidFill>
            </a:endParaRPr>
          </a:p>
          <a:p>
            <a:pPr algn="just">
              <a:spcAft>
                <a:spcPts val="500"/>
              </a:spcAft>
            </a:pPr>
            <a:r>
              <a:rPr sz="1200" b="0" i="0">
                <a:solidFill>
                  <a:srgbClr val="262626"/>
                </a:solidFill>
              </a:rPr>
              <a:t>"</a:t>
            </a:r>
            <a:r>
              <a:rPr lang="en-US" altLang="en-US" sz="1200" b="0" i="0">
                <a:solidFill>
                  <a:srgbClr val="262626"/>
                </a:solidFill>
              </a:rPr>
              <a:t>For the Sales Person, Warehouse Supervisor and Accountant, give one agentic AI use case each. Use the Order 45 example: the quotation fell from 21,400.00 to 20,092.50 USD (a 1,307.50 USD discount, so price realization is 93.9%), stock after goods issue was Deluxe 90 EA and Professional 76 EA in FG00, and the invoice was 20,092.50 USD. For each role give: the data the agent reads (name the S/4HANA objects); the decision it supports; the action it performs by itself; the action that needs human approval; and which of my KPIs it improves. Keep each cell under 25 words.</a:t>
            </a:r>
            <a:r>
              <a:rPr sz="1200" b="0" i="0">
                <a:solidFill>
                  <a:srgbClr val="262626"/>
                </a:solidFill>
              </a:rPr>
              <a:t>"</a:t>
            </a:r>
            <a:endParaRPr sz="1200" b="0" i="0">
              <a:solidFill>
                <a:srgbClr val="262626"/>
              </a:solidFill>
            </a:endParaRPr>
          </a:p>
          <a:p>
            <a:pPr algn="just">
              <a:spcBef>
                <a:spcPts val="600"/>
              </a:spcBef>
              <a:spcAft>
                <a:spcPts val="500"/>
              </a:spcAft>
            </a:pPr>
            <a:r>
              <a:rPr sz="1400" b="1" i="0">
                <a:solidFill>
                  <a:srgbClr val="002060"/>
                </a:solidFill>
              </a:rPr>
              <a:t>Prompt 3: Internet research and reality check</a:t>
            </a:r>
            <a:endParaRPr sz="1400" b="1" i="0">
              <a:solidFill>
                <a:srgbClr val="002060"/>
              </a:solidFill>
            </a:endParaRPr>
          </a:p>
          <a:p>
            <a:pPr algn="just">
              <a:spcAft>
                <a:spcPts val="500"/>
              </a:spcAft>
            </a:pPr>
            <a:r>
              <a:rPr sz="1200" b="0" i="0">
                <a:solidFill>
                  <a:srgbClr val="262626"/>
                </a:solidFill>
              </a:rPr>
              <a:t>"</a:t>
            </a:r>
            <a:r>
              <a:rPr lang="en-US" altLang="en-US" sz="1200" b="0" i="0">
                <a:solidFill>
                  <a:srgbClr val="262626"/>
                </a:solidFill>
              </a:rPr>
              <a:t>Search the web for how SAP Joule agents (collections, cash application, order assistant) are used in order-to-cash. Compare them with my three use cases: Quotation Pricing and Follow-up Agent, Delivery Readiness Agent, and Billing and Cash Collection Agent. Using my Order 45 cycle as the example, tell me which parts are realistic today and which are not. Give sources.</a:t>
            </a:r>
            <a:r>
              <a:rPr sz="1200" b="0" i="0">
                <a:solidFill>
                  <a:srgbClr val="262626"/>
                </a:solidFill>
              </a:rPr>
              <a:t>"</a:t>
            </a:r>
            <a:endParaRPr sz="1200" b="0" i="0">
              <a:solidFill>
                <a:srgbClr val="262626"/>
              </a:solidFill>
            </a:endParaRPr>
          </a:p>
          <a:p>
            <a:pPr algn="just">
              <a:spcAft>
                <a:spcPts val="500"/>
              </a:spcAft>
            </a:pPr>
            <a:r>
              <a:rPr sz="1100" b="0" i="1">
                <a:solidFill>
                  <a:srgbClr val="262626"/>
                </a:solidFill>
              </a:rPr>
              <a:t>Sources checked: SAP Learning course 'Reviewing the Use of SAP Joule Agents in Finance'; SAP API Business Hub guide for the Collections Management Agent; SAPinsider article on Joule agents; PwC note on AI in SAP S/4HANA finance.</a:t>
            </a:r>
            <a:endParaRPr sz="1100" b="0" i="1">
              <a:solidFill>
                <a:srgbClr val="26262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9027</Words>
  <Application>WPS Presentation</Application>
  <PresentationFormat>Custom</PresentationFormat>
  <Paragraphs>289</Paragraphs>
  <Slides>9</Slides>
  <Notes>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vt:i4>
      </vt:variant>
    </vt:vector>
  </HeadingPairs>
  <TitlesOfParts>
    <vt:vector size="25" baseType="lpstr">
      <vt:lpstr>Arial</vt:lpstr>
      <vt:lpstr>SimSun</vt:lpstr>
      <vt:lpstr>Wingdings</vt:lpstr>
      <vt:lpstr>Arial</vt:lpstr>
      <vt:lpstr>Noto Sans Symbols</vt:lpstr>
      <vt:lpstr>Segoe Print</vt:lpstr>
      <vt:lpstr>Courier New</vt:lpstr>
      <vt:lpstr>Angsana New</vt:lpstr>
      <vt:lpstr>Times New Roman</vt:lpstr>
      <vt:lpstr>Calibri</vt:lpstr>
      <vt:lpstr>Times New Roman</vt:lpstr>
      <vt:lpstr>Calibri</vt:lpstr>
      <vt:lpstr>Wingdings</vt:lpstr>
      <vt:lpstr>Microsoft YaHei</vt:lpstr>
      <vt:lpstr>Arial Unicode MS</vt:lpstr>
      <vt:lpstr>SAP_2016_16x9_white</vt:lpstr>
      <vt:lpstr>Sales and Distribution (SD)</vt:lpstr>
      <vt:lpstr>Guidelines</vt:lpstr>
      <vt:lpstr>Employees / Roles involved</vt:lpstr>
      <vt:lpstr>PowerPoint 演示文稿</vt:lpstr>
      <vt:lpstr>b. Data Types Matrix (5 Marks)</vt:lpstr>
      <vt:lpstr>c. Roles &amp; KPIs (5 Marks)</vt:lpstr>
      <vt:lpstr>d. Agentic AI relevance (10 Marks)</vt:lpstr>
      <vt:lpstr>e. Prompts used for GenAI / Agentic AI</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and Distribution (SD)</dc:title>
  <dc:creator>svkbharathi</dc:creator>
  <cp:lastModifiedBy>saumy</cp:lastModifiedBy>
  <cp:revision>7</cp:revision>
  <dcterms:created xsi:type="dcterms:W3CDTF">2026-10-04T13:02:00Z</dcterms:created>
  <dcterms:modified xsi:type="dcterms:W3CDTF">2026-10-22T14:51:29Z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70E55B29DAAB4CE2901334A5AE241325_13</vt:lpwstr>
  </property>
</Properties>
</file>